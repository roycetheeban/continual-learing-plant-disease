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75" r:id="rId4"/>
    <p:sldId id="277" r:id="rId5"/>
    <p:sldId id="276" r:id="rId6"/>
    <p:sldId id="278" r:id="rId7"/>
    <p:sldId id="274" r:id="rId8"/>
    <p:sldId id="257" r:id="rId9"/>
    <p:sldId id="260" r:id="rId10"/>
    <p:sldId id="258" r:id="rId11"/>
    <p:sldId id="263" r:id="rId12"/>
    <p:sldId id="267" r:id="rId13"/>
    <p:sldId id="262" r:id="rId14"/>
    <p:sldId id="264" r:id="rId15"/>
    <p:sldId id="261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08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49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23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15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13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5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08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66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87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6944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3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44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77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73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421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0D891-B754-4707-A766-5E51C766C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633EE-5174-4FAC-9018-A2E8F8610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B6C28-9EFC-4158-978F-40331A7F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2B6AF-66FD-4891-8D07-FBEA864AD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360C0-664B-44BD-90FF-59A2014F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670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C00FE7E-4693-4114-AC6E-7DFA05F2E711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C56C598-C9F3-40BB-9BEE-EC8EA9D31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54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CF95-3C1C-44F5-93F8-B07F4EBCC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4981" y="1082112"/>
            <a:ext cx="10030691" cy="1364673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lexandria Bold" panose="020B0604020202020204" charset="-78"/>
                <a:cs typeface="Alexandria Bold" panose="020B0604020202020204" charset="-78"/>
              </a:rPr>
              <a:t>DEMONSTRATION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280430AB-CC03-4DD1-BE03-22079F165E53}"/>
              </a:ext>
            </a:extLst>
          </p:cNvPr>
          <p:cNvSpPr txBox="1"/>
          <p:nvPr/>
        </p:nvSpPr>
        <p:spPr>
          <a:xfrm>
            <a:off x="883636" y="2446785"/>
            <a:ext cx="10162036" cy="3338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Supervisor: Dr. T.MUKUNTHAN</a:t>
            </a:r>
          </a:p>
          <a:p>
            <a:pPr algn="ctr">
              <a:lnSpc>
                <a:spcPts val="6256"/>
              </a:lnSpc>
              <a:spcBef>
                <a:spcPct val="0"/>
              </a:spcBef>
            </a:pP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4480"/>
              </a:lnSpc>
            </a:pPr>
            <a:r>
              <a:rPr lang="pt-B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Reg No:</a:t>
            </a:r>
          </a:p>
          <a:p>
            <a:pPr algn="ctr">
              <a:lnSpc>
                <a:spcPts val="4480"/>
              </a:lnSpc>
            </a:pPr>
            <a:r>
              <a:rPr lang="pt-B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2021/E/015</a:t>
            </a:r>
          </a:p>
          <a:p>
            <a:pPr algn="ctr">
              <a:lnSpc>
                <a:spcPts val="4480"/>
              </a:lnSpc>
            </a:pPr>
            <a:r>
              <a:rPr lang="pt-B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2021/E/123</a:t>
            </a: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749262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3732022-4C89-4445-87DC-A8023A18285E}"/>
              </a:ext>
            </a:extLst>
          </p:cNvPr>
          <p:cNvSpPr txBox="1"/>
          <p:nvPr/>
        </p:nvSpPr>
        <p:spPr>
          <a:xfrm>
            <a:off x="3013710" y="2959418"/>
            <a:ext cx="61188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>
              <a:buFont typeface="+mj-lt"/>
              <a:buAutoNum type="arabicPeriod" startAt="2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YOLOv8 Implementation</a:t>
            </a:r>
          </a:p>
          <a:p>
            <a:pPr defTabSz="60963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Created baseline with 70 annotated images (120 augmented)</a:t>
            </a:r>
          </a:p>
          <a:p>
            <a:pPr defTabSz="60963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Achieved 0.712 precision and 0.741 recall</a:t>
            </a:r>
          </a:p>
          <a:p>
            <a:pPr defTabSz="60963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Current confidence scores: 0.25-0.5 range</a:t>
            </a:r>
          </a:p>
          <a:p>
            <a:pPr defTabSz="60963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Next: Expand to 500+ images for improved accuracy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2F0387D6-A07E-44CF-9FE6-6C9917E16BE6}"/>
              </a:ext>
            </a:extLst>
          </p:cNvPr>
          <p:cNvSpPr txBox="1"/>
          <p:nvPr/>
        </p:nvSpPr>
        <p:spPr>
          <a:xfrm>
            <a:off x="236113" y="408601"/>
            <a:ext cx="11484832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01517" lvl="1" algn="ctr" defTabSz="609630">
              <a:lnSpc>
                <a:spcPts val="2613"/>
              </a:lnSpc>
              <a:defRPr/>
            </a:pPr>
            <a:r>
              <a:rPr lang="en-US" sz="4000" b="1" dirty="0"/>
              <a:t>A Lightweight Modular Pipeline</a:t>
            </a:r>
            <a:endParaRPr lang="en-US" sz="3600" b="1" dirty="0">
              <a:latin typeface="+mj-lt"/>
              <a:ea typeface="Cormorant Garamond Bold"/>
              <a:cs typeface="Cormorant Garamond Bold"/>
              <a:sym typeface="Cormorant Garamond Bold"/>
            </a:endParaRPr>
          </a:p>
          <a:p>
            <a:pPr marL="403034" lvl="1" indent="-201517" defTabSz="609630">
              <a:lnSpc>
                <a:spcPts val="2613"/>
              </a:lnSpc>
              <a:buFont typeface="Arial"/>
              <a:buChar char="•"/>
              <a:defRPr/>
            </a:pPr>
            <a:r>
              <a:rPr lang="en-US" sz="2933" b="1" dirty="0">
                <a:latin typeface="+mj-lt"/>
                <a:ea typeface="Cormorant Garamond Bold"/>
                <a:cs typeface="Cormorant Garamond Bold"/>
                <a:sym typeface="Cormorant Garamond Bold"/>
              </a:rPr>
              <a:t>Manual Data Collection</a:t>
            </a:r>
          </a:p>
          <a:p>
            <a:pPr marL="1317480" lvl="4" indent="-201517" defTabSz="609630">
              <a:lnSpc>
                <a:spcPts val="2613"/>
              </a:lnSpc>
              <a:buFont typeface="Arial"/>
              <a:buChar char="•"/>
              <a:defRPr/>
            </a:pPr>
            <a:r>
              <a:rPr lang="en-US" sz="2133" dirty="0">
                <a:latin typeface="+mj-lt"/>
                <a:ea typeface="Cormorant Garamond Bold"/>
                <a:cs typeface="Cormorant Garamond Bold"/>
                <a:sym typeface="Cormorant Garamond Bold"/>
              </a:rPr>
              <a:t>Turmeric dataset:</a:t>
            </a:r>
          </a:p>
          <a:p>
            <a:pPr marL="1927110" lvl="6" indent="-201517">
              <a:lnSpc>
                <a:spcPts val="2613"/>
              </a:lnSpc>
              <a:buFont typeface="Arial"/>
              <a:buChar char="•"/>
              <a:defRPr/>
            </a:pPr>
            <a:r>
              <a:rPr lang="en-US" sz="2400" dirty="0"/>
              <a:t>1,000 high resolution images of turmeric plants</a:t>
            </a:r>
            <a:endParaRPr lang="en-US" sz="2133" dirty="0">
              <a:latin typeface="+mj-lt"/>
              <a:ea typeface="Cormorant Garamond Bold"/>
              <a:cs typeface="Cormorant Garamond Bold"/>
              <a:sym typeface="Cormorant Garamond Bold"/>
            </a:endParaRPr>
          </a:p>
          <a:p>
            <a:pPr marL="1927110" lvl="6" indent="-201517">
              <a:lnSpc>
                <a:spcPts val="2613"/>
              </a:lnSpc>
              <a:buFont typeface="Arial"/>
              <a:buChar char="•"/>
              <a:defRPr/>
            </a:pPr>
            <a:r>
              <a:rPr lang="en-US" sz="2133" dirty="0">
                <a:latin typeface="+mj-lt"/>
                <a:ea typeface="Cormorant Garamond Bold"/>
                <a:cs typeface="Cormorant Garamond Bold"/>
                <a:sym typeface="Cormorant Garamond Bold"/>
              </a:rPr>
              <a:t>Used 45° camera angle to capture wider plant coverage and leaf overlap details.</a:t>
            </a:r>
          </a:p>
          <a:p>
            <a:pPr marL="1927110" lvl="6" indent="-201517">
              <a:lnSpc>
                <a:spcPts val="2613"/>
              </a:lnSpc>
              <a:buFont typeface="Arial"/>
              <a:buChar char="•"/>
              <a:defRPr/>
            </a:pPr>
            <a:r>
              <a:rPr lang="en-US" sz="2133" dirty="0">
                <a:latin typeface="+mj-lt"/>
                <a:ea typeface="Cormorant Garamond Bold"/>
                <a:cs typeface="Cormorant Garamond Bold"/>
                <a:sym typeface="Cormorant Garamond Bold"/>
              </a:rPr>
              <a:t>Ensures better model generalization for practical use.</a:t>
            </a:r>
          </a:p>
          <a:p>
            <a:pPr marL="1927110" lvl="6" indent="-201517">
              <a:lnSpc>
                <a:spcPts val="2613"/>
              </a:lnSpc>
              <a:buFont typeface="Arial"/>
              <a:buChar char="•"/>
              <a:defRPr/>
            </a:pPr>
            <a:r>
              <a:rPr lang="en-US" sz="2400" dirty="0"/>
              <a:t>The dataset includes 550 training images (5,582 annotated boxes),</a:t>
            </a:r>
            <a:endParaRPr lang="en-US" sz="2133" dirty="0">
              <a:latin typeface="+mj-lt"/>
              <a:ea typeface="Cormorant Garamond Bold"/>
              <a:cs typeface="Cormorant Garamond Bold"/>
              <a:sym typeface="Cormorant Garamond Bold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04582F-CFF4-42FC-85C4-735B3C57F84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709" y="2738637"/>
            <a:ext cx="4058796" cy="316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BD526A-6FF6-4BA0-B0C5-94539AC99FB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564" y="2742573"/>
            <a:ext cx="3740727" cy="3156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3732022-4C89-4445-87DC-A8023A18285E}"/>
              </a:ext>
            </a:extLst>
          </p:cNvPr>
          <p:cNvSpPr txBox="1"/>
          <p:nvPr/>
        </p:nvSpPr>
        <p:spPr>
          <a:xfrm>
            <a:off x="692727" y="1842655"/>
            <a:ext cx="670802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>
              <a:defRPr/>
            </a:pPr>
            <a:r>
              <a:rPr lang="en-US" sz="2400" b="1" dirty="0">
                <a:latin typeface="DeepSeek-CJK-patch"/>
              </a:rPr>
              <a:t>Annotation</a:t>
            </a:r>
            <a:r>
              <a:rPr lang="en-US" sz="1600" b="1" dirty="0">
                <a:latin typeface="DeepSeek-CJK-patch"/>
              </a:rPr>
              <a:t>(</a:t>
            </a:r>
            <a:r>
              <a:rPr lang="en-US" sz="1600" b="1" dirty="0" err="1">
                <a:latin typeface="DeepSeek-CJK-patch"/>
              </a:rPr>
              <a:t>Roboflow</a:t>
            </a:r>
            <a:r>
              <a:rPr lang="en-US" sz="1600" b="1" dirty="0">
                <a:latin typeface="DeepSeek-CJK-patch"/>
              </a:rPr>
              <a:t>)</a:t>
            </a:r>
          </a:p>
          <a:p>
            <a:pPr marL="285750" indent="-285750" defTabSz="60963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DeepSeek-CJK-patch"/>
              </a:rPr>
              <a:t>bounding box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4B2DF265-0B48-4C5F-B60D-356A846F7368}"/>
              </a:ext>
            </a:extLst>
          </p:cNvPr>
          <p:cNvSpPr txBox="1"/>
          <p:nvPr/>
        </p:nvSpPr>
        <p:spPr>
          <a:xfrm>
            <a:off x="0" y="767209"/>
            <a:ext cx="8913038" cy="971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3034" lvl="1" indent="-201517" defTabSz="609630">
              <a:lnSpc>
                <a:spcPts val="2613"/>
              </a:lnSpc>
              <a:buFont typeface="Arial"/>
              <a:buChar char="•"/>
              <a:defRPr/>
            </a:pPr>
            <a:r>
              <a:rPr lang="en-US" sz="2667" b="1" u="sng" dirty="0"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YOLOv8 leaf </a:t>
            </a:r>
            <a:r>
              <a:rPr lang="en-US" sz="2667" b="1" u="sng" dirty="0" err="1"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seperation</a:t>
            </a:r>
            <a:r>
              <a:rPr lang="en-US" sz="2667" b="1" u="sng" dirty="0"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 models</a:t>
            </a:r>
            <a:br>
              <a:rPr lang="en-US" sz="1867" b="1" dirty="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</a:br>
            <a:br>
              <a:rPr lang="en-US" sz="1867" b="1" dirty="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</a:br>
            <a:r>
              <a:rPr lang="en-US" sz="2000" b="1" dirty="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YOLO V8n.pt</a:t>
            </a:r>
            <a:endParaRPr lang="en-US" sz="1867" b="1" dirty="0">
              <a:solidFill>
                <a:srgbClr val="2D3880"/>
              </a:solidFill>
              <a:latin typeface="Cormorant Garamond Bold"/>
              <a:ea typeface="Cormorant Garamond Bold"/>
              <a:cs typeface="Cormorant Garamond Bold"/>
              <a:sym typeface="Cormorant Garamond 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8CE7C7-C3F2-4A34-B7B8-B6648794B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6" y="2409204"/>
            <a:ext cx="6611273" cy="44487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A1B024-28A6-4D3A-BED0-74690B6E9486}"/>
              </a:ext>
            </a:extLst>
          </p:cNvPr>
          <p:cNvCxnSpPr>
            <a:cxnSpLocks/>
          </p:cNvCxnSpPr>
          <p:nvPr/>
        </p:nvCxnSpPr>
        <p:spPr>
          <a:xfrm flipV="1">
            <a:off x="6483927" y="3429000"/>
            <a:ext cx="440691" cy="21682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9BE429-90AE-4C3C-B258-7993936E9031}"/>
              </a:ext>
            </a:extLst>
          </p:cNvPr>
          <p:cNvCxnSpPr>
            <a:cxnSpLocks/>
          </p:cNvCxnSpPr>
          <p:nvPr/>
        </p:nvCxnSpPr>
        <p:spPr>
          <a:xfrm flipH="1">
            <a:off x="6691745" y="3429000"/>
            <a:ext cx="5500255" cy="31657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72B6C83-D14E-40CE-8508-B9EA3010EC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06"/>
          <a:stretch/>
        </p:blipFill>
        <p:spPr>
          <a:xfrm>
            <a:off x="6096000" y="-57513"/>
            <a:ext cx="6096000" cy="390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68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3732022-4C89-4445-87DC-A8023A18285E}"/>
              </a:ext>
            </a:extLst>
          </p:cNvPr>
          <p:cNvSpPr txBox="1"/>
          <p:nvPr/>
        </p:nvSpPr>
        <p:spPr>
          <a:xfrm>
            <a:off x="3013710" y="2959418"/>
            <a:ext cx="61188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>
              <a:buFont typeface="+mj-lt"/>
              <a:buAutoNum type="arabicPeriod" startAt="2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YOLOv8 Implementation</a:t>
            </a:r>
          </a:p>
          <a:p>
            <a:pPr defTabSz="60963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Created baseline with 70 annotated images (120 augmented)</a:t>
            </a:r>
          </a:p>
          <a:p>
            <a:pPr defTabSz="60963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Achieved 0.712 precision and 0.741 recall</a:t>
            </a:r>
          </a:p>
          <a:p>
            <a:pPr defTabSz="60963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Current confidence scores: 0.25-0.5 range</a:t>
            </a:r>
          </a:p>
          <a:p>
            <a:pPr defTabSz="60963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Next: Expand to 500+ images for improved accuracy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4B2DF265-0B48-4C5F-B60D-356A846F7368}"/>
              </a:ext>
            </a:extLst>
          </p:cNvPr>
          <p:cNvSpPr txBox="1"/>
          <p:nvPr/>
        </p:nvSpPr>
        <p:spPr>
          <a:xfrm>
            <a:off x="25400" y="725645"/>
            <a:ext cx="8913038" cy="971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3034" lvl="1" indent="-201517" defTabSz="609630">
              <a:lnSpc>
                <a:spcPts val="2613"/>
              </a:lnSpc>
              <a:buFont typeface="Arial"/>
              <a:buChar char="•"/>
              <a:defRPr/>
            </a:pPr>
            <a:r>
              <a:rPr lang="en-US" sz="1867" b="1" dirty="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Output(100 epoches,640*640,batch_size=32)</a:t>
            </a:r>
            <a:br>
              <a:rPr lang="en-US" sz="1867" b="1" dirty="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</a:br>
            <a:br>
              <a:rPr lang="en-US" sz="1867" b="1" dirty="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</a:br>
            <a:endParaRPr lang="en-US" sz="1867" b="1" dirty="0">
              <a:solidFill>
                <a:srgbClr val="2D3880"/>
              </a:solidFill>
              <a:latin typeface="Cormorant Garamond Bold"/>
              <a:ea typeface="Cormorant Garamond Bold"/>
              <a:cs typeface="Cormorant Garamond Bold"/>
              <a:sym typeface="Cormorant Garamond Bold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33D180-4331-440B-8116-E1DE3980A7B8}"/>
              </a:ext>
            </a:extLst>
          </p:cNvPr>
          <p:cNvPicPr/>
          <p:nvPr/>
        </p:nvPicPr>
        <p:blipFill rotWithShape="1">
          <a:blip r:embed="rId2"/>
          <a:srcRect t="47094"/>
          <a:stretch/>
        </p:blipFill>
        <p:spPr>
          <a:xfrm>
            <a:off x="4382042" y="4089400"/>
            <a:ext cx="7547003" cy="24114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8E5EBD-F868-41A9-B286-35C54DD94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90" y="1201965"/>
            <a:ext cx="7982739" cy="276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41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3732022-4C89-4445-87DC-A8023A18285E}"/>
              </a:ext>
            </a:extLst>
          </p:cNvPr>
          <p:cNvSpPr txBox="1"/>
          <p:nvPr/>
        </p:nvSpPr>
        <p:spPr>
          <a:xfrm>
            <a:off x="3013710" y="2959418"/>
            <a:ext cx="61188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>
              <a:buFont typeface="+mj-lt"/>
              <a:buAutoNum type="arabicPeriod" startAt="2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YOLOv8 Implementation</a:t>
            </a:r>
          </a:p>
          <a:p>
            <a:pPr defTabSz="60963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Created baseline with 70 annotated images (120 augmented)</a:t>
            </a:r>
          </a:p>
          <a:p>
            <a:pPr defTabSz="60963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Achieved 0.712 precision and 0.741 recall</a:t>
            </a:r>
          </a:p>
          <a:p>
            <a:pPr defTabSz="60963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Current confidence scores: 0.25-0.5 range</a:t>
            </a:r>
          </a:p>
          <a:p>
            <a:pPr defTabSz="60963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Next: Expand to 500+ images for improved accuracy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4B2DF265-0B48-4C5F-B60D-356A846F7368}"/>
              </a:ext>
            </a:extLst>
          </p:cNvPr>
          <p:cNvSpPr txBox="1"/>
          <p:nvPr/>
        </p:nvSpPr>
        <p:spPr>
          <a:xfrm>
            <a:off x="448400" y="712991"/>
            <a:ext cx="8913038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3034" lvl="1" indent="-201517" defTabSz="609630">
              <a:lnSpc>
                <a:spcPts val="2613"/>
              </a:lnSpc>
              <a:buFont typeface="Arial"/>
              <a:buChar char="•"/>
              <a:defRPr/>
            </a:pPr>
            <a:r>
              <a:rPr lang="en-US" sz="3200" b="1" dirty="0"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leaf segmentation models</a:t>
            </a:r>
            <a:endParaRPr lang="en-US" sz="1867" b="1" dirty="0">
              <a:latin typeface="Cormorant Garamond Bold"/>
              <a:ea typeface="Cormorant Garamond Bold"/>
              <a:cs typeface="Cormorant Garamond Bold"/>
              <a:sym typeface="Cormorant Garamond 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7EFAF8-B82A-4E27-846C-37B2A6CBBBD6}"/>
              </a:ext>
            </a:extLst>
          </p:cNvPr>
          <p:cNvSpPr txBox="1"/>
          <p:nvPr/>
        </p:nvSpPr>
        <p:spPr>
          <a:xfrm>
            <a:off x="786027" y="1404003"/>
            <a:ext cx="670802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>
              <a:defRPr/>
            </a:pPr>
            <a:r>
              <a:rPr lang="en-US" sz="2400" b="1" dirty="0">
                <a:latin typeface="DeepSeek-CJK-patch"/>
              </a:rPr>
              <a:t>Annotation</a:t>
            </a:r>
            <a:r>
              <a:rPr lang="en-US" sz="1600" b="1" dirty="0">
                <a:latin typeface="DeepSeek-CJK-patch"/>
              </a:rPr>
              <a:t>(</a:t>
            </a:r>
            <a:r>
              <a:rPr lang="en-US" sz="1600" b="1" dirty="0" err="1">
                <a:latin typeface="DeepSeek-CJK-patch"/>
              </a:rPr>
              <a:t>Roboflow</a:t>
            </a:r>
            <a:r>
              <a:rPr lang="en-US" sz="1600" b="1" dirty="0">
                <a:latin typeface="DeepSeek-CJK-patch"/>
              </a:rPr>
              <a:t>)</a:t>
            </a:r>
            <a:r>
              <a:rPr lang="en-US" sz="1400" dirty="0">
                <a:solidFill>
                  <a:srgbClr val="F8FAFF"/>
                </a:solidFill>
                <a:latin typeface="DeepSeek-CJK-patch"/>
              </a:rPr>
              <a:t>y</a:t>
            </a:r>
          </a:p>
          <a:p>
            <a:pPr marL="285750" indent="-285750" defTabSz="60963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DeepSeek-CJK-patch"/>
              </a:rPr>
              <a:t>input size</a:t>
            </a:r>
          </a:p>
          <a:p>
            <a:pPr marL="285750" indent="-285750" defTabSz="60963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DeepSeek-CJK-patch"/>
              </a:rPr>
              <a:t>50 </a:t>
            </a:r>
            <a:r>
              <a:rPr lang="en-US" sz="1400" dirty="0" err="1">
                <a:latin typeface="DeepSeek-CJK-patch"/>
              </a:rPr>
              <a:t>epoches</a:t>
            </a:r>
            <a:endParaRPr lang="en-US" sz="1400" dirty="0">
              <a:latin typeface="DeepSeek-CJK-patch"/>
            </a:endParaRPr>
          </a:p>
          <a:p>
            <a:pPr marL="285750" indent="-285750" defTabSz="609630">
              <a:buFont typeface="Arial" panose="020B0604020202020204" pitchFamily="34" charset="0"/>
              <a:buChar char="•"/>
              <a:defRPr/>
            </a:pPr>
            <a:endParaRPr lang="en-US" sz="1400" dirty="0">
              <a:latin typeface="DeepSeek-CJK-patch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A67B6-C84E-4CF1-BFC1-DCF2C73B8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27" y="2523520"/>
            <a:ext cx="5287113" cy="43344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BF39CA-E782-4CD5-A329-DEEC0FB23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196" y="0"/>
            <a:ext cx="5025804" cy="394003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E66A14-7D74-47C1-9277-ACE32EDBAFB9}"/>
              </a:ext>
            </a:extLst>
          </p:cNvPr>
          <p:cNvCxnSpPr/>
          <p:nvPr/>
        </p:nvCxnSpPr>
        <p:spPr>
          <a:xfrm flipV="1">
            <a:off x="4405745" y="0"/>
            <a:ext cx="2760451" cy="41979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191C01-C806-4DAA-9FFB-377E10CC0067}"/>
              </a:ext>
            </a:extLst>
          </p:cNvPr>
          <p:cNvCxnSpPr/>
          <p:nvPr/>
        </p:nvCxnSpPr>
        <p:spPr>
          <a:xfrm flipV="1">
            <a:off x="5957455" y="3940033"/>
            <a:ext cx="6234545" cy="12831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359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3732022-4C89-4445-87DC-A8023A18285E}"/>
              </a:ext>
            </a:extLst>
          </p:cNvPr>
          <p:cNvSpPr txBox="1"/>
          <p:nvPr/>
        </p:nvSpPr>
        <p:spPr>
          <a:xfrm>
            <a:off x="3013710" y="2959418"/>
            <a:ext cx="61188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>
              <a:buFont typeface="+mj-lt"/>
              <a:buAutoNum type="arabicPeriod" startAt="2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YOLOv8 Implementation</a:t>
            </a:r>
          </a:p>
          <a:p>
            <a:pPr defTabSz="60963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Created baseline with 70 annotated images (120 augmented)</a:t>
            </a:r>
          </a:p>
          <a:p>
            <a:pPr defTabSz="60963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Achieved 0.712 precision and 0.741 recall</a:t>
            </a:r>
          </a:p>
          <a:p>
            <a:pPr defTabSz="60963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Current confidence scores: 0.25-0.5 range</a:t>
            </a:r>
          </a:p>
          <a:p>
            <a:pPr defTabSz="60963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8FAFF"/>
                </a:solidFill>
                <a:latin typeface="DeepSeek-CJK-patch"/>
              </a:rPr>
              <a:t>Next: Expand to 500+ images for improved accuracy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4B2DF265-0B48-4C5F-B60D-356A846F7368}"/>
              </a:ext>
            </a:extLst>
          </p:cNvPr>
          <p:cNvSpPr txBox="1"/>
          <p:nvPr/>
        </p:nvSpPr>
        <p:spPr>
          <a:xfrm>
            <a:off x="448400" y="837682"/>
            <a:ext cx="8913038" cy="34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3034" lvl="1" indent="-201517" defTabSz="609630">
              <a:lnSpc>
                <a:spcPts val="2613"/>
              </a:lnSpc>
              <a:buFont typeface="Arial"/>
              <a:buChar char="•"/>
              <a:defRPr/>
            </a:pPr>
            <a:r>
              <a:rPr lang="en-US" sz="3200" b="1" dirty="0"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leaf segmentation models</a:t>
            </a:r>
            <a:endParaRPr lang="en-US" sz="1867" b="1" dirty="0">
              <a:latin typeface="Cormorant Garamond Bold"/>
              <a:ea typeface="Cormorant Garamond Bold"/>
              <a:cs typeface="Cormorant Garamond Bold"/>
              <a:sym typeface="Cormorant Garamond 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A4FD7E-6B46-405C-9E25-7FC373FE4AC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3480" y="4121694"/>
            <a:ext cx="5666740" cy="2514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193EC2-11CC-445D-831F-78D335BC6AF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179820" y="4005038"/>
            <a:ext cx="5996940" cy="2458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FD787C-B7C6-44AF-AB3C-38998F892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1338529"/>
            <a:ext cx="10213489" cy="251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550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5">
            <a:extLst>
              <a:ext uri="{FF2B5EF4-FFF2-40B4-BE49-F238E27FC236}">
                <a16:creationId xmlns:a16="http://schemas.microsoft.com/office/drawing/2014/main" id="{1B1D136C-1862-4221-A36C-915F00827978}"/>
              </a:ext>
            </a:extLst>
          </p:cNvPr>
          <p:cNvSpPr txBox="1"/>
          <p:nvPr/>
        </p:nvSpPr>
        <p:spPr>
          <a:xfrm>
            <a:off x="438919" y="1098394"/>
            <a:ext cx="10396639" cy="1669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3034" lvl="1" indent="-201517">
              <a:lnSpc>
                <a:spcPts val="2613"/>
              </a:lnSpc>
              <a:buFont typeface="Arial"/>
              <a:buChar char="•"/>
            </a:pPr>
            <a:r>
              <a:rPr lang="en-US" sz="2933" b="1" dirty="0">
                <a:ea typeface="Cormorant Garamond Bold"/>
                <a:cs typeface="Cormorant Garamond Bold"/>
                <a:sym typeface="Cormorant Garamond Bold"/>
              </a:rPr>
              <a:t>Light weight GAN Model</a:t>
            </a:r>
          </a:p>
          <a:p>
            <a:pPr marL="1012665" lvl="3" indent="-201517">
              <a:lnSpc>
                <a:spcPts val="2613"/>
              </a:lnSpc>
              <a:buFont typeface="Arial"/>
              <a:buChar char="•"/>
            </a:pPr>
            <a:r>
              <a:rPr lang="en-US" sz="2667" dirty="0">
                <a:ea typeface="Cormorant Garamond Bold"/>
                <a:cs typeface="Cormorant Garamond Bold"/>
                <a:sym typeface="Cormorant Garamond Bold"/>
              </a:rPr>
              <a:t>PSNR: 22.28 dB, SSIM: 0.8168</a:t>
            </a:r>
          </a:p>
          <a:p>
            <a:pPr marL="1012665" lvl="3" indent="-201517">
              <a:lnSpc>
                <a:spcPts val="2613"/>
              </a:lnSpc>
              <a:buFont typeface="Arial"/>
              <a:buChar char="•"/>
            </a:pPr>
            <a:r>
              <a:rPr lang="en-US" sz="2667" dirty="0">
                <a:ea typeface="Cormorant Garamond Bold"/>
                <a:cs typeface="Cormorant Garamond Bold"/>
                <a:sym typeface="Cormorant Garamond Bold"/>
              </a:rPr>
              <a:t>Generator: Lightweight TinyUNet with depth wise separable convolution</a:t>
            </a:r>
          </a:p>
          <a:p>
            <a:pPr marL="1012665" lvl="3" indent="-201517">
              <a:lnSpc>
                <a:spcPts val="2613"/>
              </a:lnSpc>
              <a:buFont typeface="Arial"/>
              <a:buChar char="•"/>
            </a:pPr>
            <a:r>
              <a:rPr lang="en-US" sz="2667" dirty="0">
                <a:ea typeface="Cormorant Garamond Bold"/>
                <a:cs typeface="Cormorant Garamond Bold"/>
                <a:sym typeface="Cormorant Garamond Bold"/>
              </a:rPr>
              <a:t> Discriminator: 70×70 PatchGAN</a:t>
            </a:r>
            <a:endParaRPr lang="en-US" sz="2667" b="1" dirty="0">
              <a:latin typeface="Cormorant Garamond Bold"/>
              <a:ea typeface="Cormorant Garamond Bold"/>
              <a:cs typeface="Cormorant Garamond Bold"/>
              <a:sym typeface="Cormorant Garamond Bol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78FE50-6F2C-440D-ACEE-7857C74F1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98" y="3429000"/>
            <a:ext cx="5637257" cy="30604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812F4E-FCA9-4DD0-B985-2CDED4B09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813" y="3435359"/>
            <a:ext cx="5405589" cy="306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13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56FE8-A17D-40B1-977C-48910CE1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5016"/>
            <a:ext cx="10515600" cy="798657"/>
          </a:xfrm>
        </p:spPr>
        <p:txBody>
          <a:bodyPr>
            <a:normAutofit/>
          </a:bodyPr>
          <a:lstStyle/>
          <a:p>
            <a:r>
              <a:rPr lang="en-US" sz="3600" b="1" i="1" dirty="0">
                <a:latin typeface="Tw Cen MT (Body)"/>
              </a:rPr>
              <a:t>CLASSIFIER Base model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D2FB9-A850-451E-8F9A-65403CE83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5" y="1011382"/>
            <a:ext cx="10730345" cy="541712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 dirty="0"/>
              <a:t>MobileNetV3-Small (Enhance by CBAM Attention Module)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Backbone: MobileNetV3-Small (from </a:t>
            </a:r>
            <a:r>
              <a:rPr lang="en-US" sz="2800" dirty="0" err="1"/>
              <a:t>timm</a:t>
            </a:r>
            <a:r>
              <a:rPr lang="en-US" sz="2800" dirty="0"/>
              <a:t> library)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Input Size: 224×224 pixels</a:t>
            </a:r>
          </a:p>
          <a:p>
            <a:pPr>
              <a:lnSpc>
                <a:spcPct val="110000"/>
              </a:lnSpc>
            </a:pPr>
            <a:r>
              <a:rPr lang="en-US" sz="2800" b="1" dirty="0"/>
              <a:t>Why MobileNetV3-Small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2800" dirty="0"/>
              <a:t>1. Minimal Model Size &amp; Parameters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2800" dirty="0"/>
              <a:t>2. Hardware-Optimized Inference Speed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2800" dirty="0"/>
              <a:t>3. Low Power &amp; Offline Operation</a:t>
            </a:r>
          </a:p>
        </p:txBody>
      </p:sp>
    </p:spTree>
    <p:extLst>
      <p:ext uri="{BB962C8B-B14F-4D97-AF65-F5344CB8AC3E}">
        <p14:creationId xmlns:p14="http://schemas.microsoft.com/office/powerpoint/2010/main" val="2054292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8D71-BB79-4A64-B4E9-BF8409963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0220"/>
          </a:xfrm>
        </p:spPr>
        <p:txBody>
          <a:bodyPr>
            <a:normAutofit/>
          </a:bodyPr>
          <a:lstStyle/>
          <a:p>
            <a:r>
              <a:rPr lang="en-US" b="1" i="1" dirty="0">
                <a:latin typeface="Tw Cen MT (Body)"/>
              </a:rPr>
              <a:t>training phase</a:t>
            </a:r>
            <a:endParaRPr lang="en-US" sz="2800" i="1" dirty="0">
              <a:latin typeface="Tw Cen MT (Body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74468-F7FC-449D-A45E-85B072321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5346"/>
            <a:ext cx="10515600" cy="47083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3200" dirty="0"/>
              <a:t>Phase 1: Train from scratch on 15 </a:t>
            </a:r>
            <a:r>
              <a:rPr lang="en-US" sz="3200" dirty="0" err="1"/>
              <a:t>PlantVillage</a:t>
            </a:r>
            <a:r>
              <a:rPr lang="en-US" sz="3200" dirty="0"/>
              <a:t> classes.</a:t>
            </a:r>
          </a:p>
          <a:p>
            <a:endParaRPr lang="en-US" sz="3200" dirty="0"/>
          </a:p>
          <a:p>
            <a:r>
              <a:rPr lang="en-US" sz="3200" dirty="0"/>
              <a:t>Phase 2: Transfer &amp; fine-tune the model on 5 new Turmeric classes.</a:t>
            </a:r>
          </a:p>
          <a:p>
            <a:endParaRPr lang="en-US" sz="3200" dirty="0"/>
          </a:p>
          <a:p>
            <a:r>
              <a:rPr lang="en-US" sz="3200" dirty="0"/>
              <a:t>Phase 3: Learn incrementally from new Turmeric data using EWC.</a:t>
            </a:r>
          </a:p>
        </p:txBody>
      </p:sp>
    </p:spTree>
    <p:extLst>
      <p:ext uri="{BB962C8B-B14F-4D97-AF65-F5344CB8AC3E}">
        <p14:creationId xmlns:p14="http://schemas.microsoft.com/office/powerpoint/2010/main" val="2779919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8EB6-D324-4EDC-963B-D1EEF960C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108" y="18761"/>
            <a:ext cx="10086109" cy="66011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w Cen MT (Body)"/>
              </a:rPr>
              <a:t>Data set details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BB519-3B08-4282-AAC9-FACFA89F6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09" y="678871"/>
            <a:ext cx="10515600" cy="6160367"/>
          </a:xfrm>
        </p:spPr>
        <p:txBody>
          <a:bodyPr numCol="1"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2600" b="1" u="sng" dirty="0"/>
              <a:t>Phase 1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           Plant village dataset ,54000 images,38 classes</a:t>
            </a:r>
          </a:p>
          <a:p>
            <a:pPr>
              <a:lnSpc>
                <a:spcPct val="100000"/>
              </a:lnSpc>
            </a:pPr>
            <a:r>
              <a:rPr lang="en-US" sz="2600" b="1" u="sng" dirty="0"/>
              <a:t>Phase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           Classes:</a:t>
            </a:r>
            <a:r>
              <a:rPr lang="en-US" sz="2200" b="0" dirty="0">
                <a:solidFill>
                  <a:srgbClr val="F8F8F2"/>
                </a:solidFill>
                <a:effectLst/>
              </a:rPr>
              <a:t> </a:t>
            </a:r>
            <a:r>
              <a:rPr lang="en-US" sz="2200" b="0" dirty="0" err="1">
                <a:effectLst/>
              </a:rPr>
              <a:t>Healthy_Leaf</a:t>
            </a:r>
            <a:r>
              <a:rPr lang="en-US" sz="2200" b="0" dirty="0">
                <a:effectLst/>
              </a:rPr>
              <a:t>_,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b="0" dirty="0">
                <a:effectLst/>
              </a:rPr>
              <a:t>           </a:t>
            </a:r>
            <a:r>
              <a:rPr lang="en-US" sz="2200" b="0" dirty="0" err="1">
                <a:effectLst/>
              </a:rPr>
              <a:t>Leaf_Spot</a:t>
            </a:r>
            <a:r>
              <a:rPr lang="en-US" sz="2200" b="0" dirty="0">
                <a:effectLst/>
              </a:rPr>
              <a:t>_,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b="0" dirty="0">
                <a:effectLst/>
              </a:rPr>
              <a:t>           Blotch_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b="0" dirty="0">
                <a:effectLst/>
              </a:rPr>
              <a:t>           Dry Leaf_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b="0" dirty="0">
                <a:effectLst/>
              </a:rPr>
              <a:t>           </a:t>
            </a:r>
            <a:r>
              <a:rPr lang="en-US" sz="2200" b="0" dirty="0" err="1">
                <a:effectLst/>
              </a:rPr>
              <a:t>Aphids_Disease</a:t>
            </a:r>
            <a:endParaRPr lang="en-US" sz="2200" b="0" dirty="0">
              <a:effectLst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    Each contain 200 images per class</a:t>
            </a:r>
          </a:p>
          <a:p>
            <a:pPr marL="0" indent="0">
              <a:buNone/>
            </a:pPr>
            <a:r>
              <a:rPr lang="en-US" sz="1700" b="1" i="0" dirty="0">
                <a:solidFill>
                  <a:srgbClr val="1A1A1A"/>
                </a:solidFill>
                <a:effectLst/>
              </a:rPr>
              <a:t>                   Source: Image Dataset for Turmeric Plant Leaf Disease Detection</a:t>
            </a:r>
          </a:p>
          <a:p>
            <a:pPr marL="0" indent="0">
              <a:buNone/>
            </a:pPr>
            <a:r>
              <a:rPr lang="en-US" sz="1700" b="0" i="0" dirty="0">
                <a:solidFill>
                  <a:srgbClr val="505050"/>
                </a:solidFill>
                <a:effectLst/>
              </a:rPr>
              <a:t>                          (</a:t>
            </a:r>
            <a:r>
              <a:rPr lang="en-US" sz="1100" b="0" i="0" dirty="0">
                <a:solidFill>
                  <a:srgbClr val="505050"/>
                </a:solidFill>
                <a:effectLst/>
              </a:rPr>
              <a:t>Published: 2 January 2025|Version 1|DOI:10.17632/jtttfbx342.1</a:t>
            </a:r>
            <a:r>
              <a:rPr lang="en-US" sz="1700" b="0" i="0" dirty="0">
                <a:solidFill>
                  <a:srgbClr val="505050"/>
                </a:solidFill>
                <a:effectLst/>
              </a:rPr>
              <a:t>)</a:t>
            </a:r>
          </a:p>
          <a:p>
            <a:pPr marL="0" indent="0" algn="l">
              <a:buNone/>
            </a:pPr>
            <a:r>
              <a:rPr lang="en-US" sz="2200" dirty="0">
                <a:solidFill>
                  <a:srgbClr val="505050"/>
                </a:solidFill>
              </a:rPr>
              <a:t>                         </a:t>
            </a:r>
            <a:r>
              <a:rPr lang="en-US" sz="2200" b="1" dirty="0">
                <a:solidFill>
                  <a:srgbClr val="505050"/>
                </a:solidFill>
              </a:rPr>
              <a:t>:</a:t>
            </a:r>
            <a:r>
              <a:rPr lang="en-US" sz="1700" b="1" i="0" dirty="0">
                <a:solidFill>
                  <a:srgbClr val="1A1A1A"/>
                </a:solidFill>
                <a:effectLst/>
              </a:rPr>
              <a:t>Turmeric Plant Disease Dataset: Advancing AI for Agricultural Sustainability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505050"/>
                </a:solidFill>
                <a:effectLst/>
              </a:rPr>
              <a:t>                                    (</a:t>
            </a:r>
            <a:r>
              <a:rPr lang="en-US" sz="1100" b="0" i="0" dirty="0">
                <a:solidFill>
                  <a:srgbClr val="505050"/>
                </a:solidFill>
                <a:effectLst/>
              </a:rPr>
              <a:t>Published: 30 December 2024|Version 1|DOI:10.17632/g46dvrcvwn.1)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Phase 3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rgbClr val="505050"/>
                </a:solidFill>
                <a:effectLst/>
              </a:rPr>
              <a:t>   </a:t>
            </a:r>
            <a:r>
              <a:rPr lang="en-US" sz="1800" b="0" i="0" dirty="0">
                <a:effectLst/>
              </a:rPr>
              <a:t>         check by 50 images for each class </a:t>
            </a:r>
            <a:r>
              <a:rPr lang="en-US" sz="1800" dirty="0"/>
              <a:t>from</a:t>
            </a:r>
            <a:r>
              <a:rPr lang="en-US" sz="1800" b="0" i="0" dirty="0">
                <a:effectLst/>
              </a:rPr>
              <a:t> phase 2 data set 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385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869B-71F4-463B-B8DF-644A2D3D2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82990"/>
            <a:ext cx="10364451" cy="1596177"/>
          </a:xfrm>
        </p:spPr>
        <p:txBody>
          <a:bodyPr>
            <a:normAutofit/>
          </a:bodyPr>
          <a:lstStyle/>
          <a:p>
            <a:r>
              <a:rPr lang="en-US" b="1" i="0" u="sng" dirty="0">
                <a:effectLst/>
                <a:latin typeface="Tw Cen MT (Body)"/>
              </a:rPr>
              <a:t>Phase 1 - Foundation Model (Scratch Training)</a:t>
            </a:r>
            <a:br>
              <a:rPr lang="en-US" b="0" i="0" u="sng" dirty="0">
                <a:effectLst/>
                <a:latin typeface="Tw Cen MT (Body)"/>
              </a:rPr>
            </a:br>
            <a:endParaRPr lang="en-US" u="sng" dirty="0">
              <a:latin typeface="Tw Cen MT (Body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A3EEB-46B8-4A66-B8C7-092977A94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27" y="1690688"/>
            <a:ext cx="10661073" cy="4486275"/>
          </a:xfrm>
        </p:spPr>
        <p:txBody>
          <a:bodyPr>
            <a:normAutofit/>
          </a:bodyPr>
          <a:lstStyle/>
          <a:p>
            <a:pPr algn="l"/>
            <a:r>
              <a:rPr lang="en-US" sz="2400" b="1" i="0" dirty="0">
                <a:effectLst/>
                <a:latin typeface="quote-cjk-patch"/>
              </a:rPr>
              <a:t>Goal:</a:t>
            </a:r>
            <a:r>
              <a:rPr lang="en-US" sz="2400" b="0" i="0" dirty="0">
                <a:effectLst/>
                <a:latin typeface="quote-cjk-patch"/>
              </a:rPr>
              <a:t> Create a domain-specific feature extractor for plants, unbiased by ImageNet.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quote-cjk-patch"/>
              </a:rPr>
              <a:t>Base Model:</a:t>
            </a:r>
            <a:r>
              <a:rPr lang="en-US" sz="2400" b="0" i="0" dirty="0">
                <a:effectLst/>
                <a:latin typeface="quote-cjk-patch"/>
              </a:rPr>
              <a:t> MobileNetV3-Small (chosen for edge optimization)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quote-cjk-patch"/>
              </a:rPr>
              <a:t>Enhancements:</a:t>
            </a:r>
            <a:endParaRPr lang="en-US" sz="2400" b="0" i="0" dirty="0"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quote-cjk-patch"/>
              </a:rPr>
              <a:t>Integrated CBAM</a:t>
            </a:r>
            <a:r>
              <a:rPr lang="en-US" sz="2000" b="0" i="0" dirty="0">
                <a:effectLst/>
                <a:latin typeface="quote-cjk-patch"/>
              </a:rPr>
              <a:t> attention module to focus on disease-specific regions.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quote-cjk-patch"/>
              </a:rPr>
              <a:t>Enhanced Classifier Head</a:t>
            </a:r>
            <a:r>
              <a:rPr lang="en-US" sz="2000" b="0" i="0" dirty="0">
                <a:effectLst/>
                <a:latin typeface="quote-cjk-patch"/>
              </a:rPr>
              <a:t> with </a:t>
            </a:r>
            <a:r>
              <a:rPr lang="en-US" sz="2000" b="0" i="0" dirty="0" err="1">
                <a:effectLst/>
                <a:latin typeface="quote-cjk-patch"/>
              </a:rPr>
              <a:t>BatchNorm</a:t>
            </a:r>
            <a:r>
              <a:rPr lang="en-US" sz="2000" b="0" i="0" dirty="0">
                <a:effectLst/>
                <a:latin typeface="quote-cjk-patch"/>
              </a:rPr>
              <a:t> and dropout for better feature processing.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quote-cjk-patch"/>
              </a:rPr>
              <a:t>Custom Weight Initialization</a:t>
            </a:r>
            <a:r>
              <a:rPr lang="en-US" sz="2000" b="0" i="0" dirty="0">
                <a:effectLst/>
                <a:latin typeface="quote-cjk-patch"/>
              </a:rPr>
              <a:t> optimized for scratch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888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E5774-6363-40DE-B55C-DCAC17FC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09" y="0"/>
            <a:ext cx="9926782" cy="693161"/>
          </a:xfrm>
        </p:spPr>
        <p:txBody>
          <a:bodyPr>
            <a:normAutofit/>
          </a:bodyPr>
          <a:lstStyle/>
          <a:p>
            <a:r>
              <a:rPr lang="en-US" b="1" i="0" u="sng" dirty="0">
                <a:effectLst/>
                <a:latin typeface="quote-cjk-patch"/>
              </a:rPr>
              <a:t>Phase 1 - OUTPUT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27653E-4515-4808-B961-337E47427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909" y="693161"/>
            <a:ext cx="6318926" cy="308346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FAADE6-4C33-4BDE-878A-8C190D9A9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23616"/>
            <a:ext cx="7245927" cy="29343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522532-4C26-45EC-A656-AB59571442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163" y="110836"/>
            <a:ext cx="5000715" cy="425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868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75C15-C2D5-4439-B104-549044186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5125"/>
            <a:ext cx="11049000" cy="1325563"/>
          </a:xfrm>
        </p:spPr>
        <p:txBody>
          <a:bodyPr>
            <a:normAutofit fontScale="90000"/>
          </a:bodyPr>
          <a:lstStyle/>
          <a:p>
            <a:r>
              <a:rPr lang="en-US" b="1" i="0" u="sng" dirty="0">
                <a:effectLst/>
                <a:latin typeface="Tw Cen MT (Body)"/>
              </a:rPr>
              <a:t>Phase 2 - Knowledge-Preserving Transfer Learning</a:t>
            </a:r>
            <a:br>
              <a:rPr lang="en-US" b="0" i="0" dirty="0">
                <a:effectLst/>
                <a:latin typeface="Tw Cen MT (Body)"/>
              </a:rPr>
            </a:br>
            <a:endParaRPr lang="en-US" dirty="0">
              <a:latin typeface="Tw Cen MT (Body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E5787-092F-46EB-BEAB-17C5A3AF2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5" y="1690688"/>
            <a:ext cx="10515600" cy="435133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b="1" i="0" dirty="0">
                <a:effectLst/>
                <a:latin typeface="quote-cjk-patch"/>
              </a:rPr>
              <a:t>Goal:</a:t>
            </a:r>
            <a:r>
              <a:rPr lang="en-US" b="0" i="0" dirty="0">
                <a:effectLst/>
                <a:latin typeface="quote-cjk-patch"/>
              </a:rPr>
              <a:t> Adapt the </a:t>
            </a:r>
            <a:r>
              <a:rPr lang="en-US" b="0" i="0" dirty="0" err="1">
                <a:effectLst/>
                <a:latin typeface="quote-cjk-patch"/>
              </a:rPr>
              <a:t>PlantVillage</a:t>
            </a:r>
            <a:r>
              <a:rPr lang="en-US" b="0" i="0" dirty="0">
                <a:effectLst/>
                <a:latin typeface="quote-cjk-patch"/>
              </a:rPr>
              <a:t> model to Turmeric diseases without forgetting previous knowledge.</a:t>
            </a:r>
          </a:p>
          <a:p>
            <a:pPr algn="l">
              <a:lnSpc>
                <a:spcPct val="150000"/>
              </a:lnSpc>
            </a:pPr>
            <a:r>
              <a:rPr lang="en-US" b="1" i="0" dirty="0">
                <a:effectLst/>
                <a:latin typeface="quote-cjk-patch"/>
              </a:rPr>
              <a:t>Strategy: 3-Stage Gradual Fine-Tuning</a:t>
            </a:r>
            <a:endParaRPr lang="en-US" b="0" i="0" dirty="0">
              <a:effectLst/>
              <a:latin typeface="quote-cjk-patch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i="0" dirty="0">
                <a:effectLst/>
                <a:latin typeface="quote-cjk-patch"/>
              </a:rPr>
              <a:t>Stage 1: Train only the new classifier head. (Freeze backbone)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i="0" dirty="0">
                <a:effectLst/>
                <a:latin typeface="quote-cjk-patch"/>
              </a:rPr>
              <a:t>Stage 2: Unfreeze and train late-stage backbone layers + classifier.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i="0" dirty="0">
                <a:effectLst/>
                <a:latin typeface="quote-cjk-patch"/>
              </a:rPr>
              <a:t>Stage 3: Unfreeze mid-to-late layers for final global tuning.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477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48E3-ED90-4205-9FEA-5F9D6A41A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0"/>
            <a:ext cx="10515600" cy="660111"/>
          </a:xfrm>
        </p:spPr>
        <p:txBody>
          <a:bodyPr>
            <a:normAutofit/>
          </a:bodyPr>
          <a:lstStyle/>
          <a:p>
            <a:r>
              <a:rPr lang="en-US" b="1" i="0" u="sng" dirty="0">
                <a:effectLst/>
                <a:latin typeface="quote-cjk-patch"/>
              </a:rPr>
              <a:t>Phase 2 - OUTPUT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436133-508D-47F4-BE3F-64571DC521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182" y="762433"/>
            <a:ext cx="5010849" cy="303889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FA0924-2DA9-49C5-B604-843061392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95760"/>
            <a:ext cx="5829339" cy="5015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E39A5C-ECD6-4C55-97FD-49E47223C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82009"/>
            <a:ext cx="5829340" cy="215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511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B83FA-D1E7-4F83-8CB0-F5F62BED7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39" y="116311"/>
            <a:ext cx="10364451" cy="1596177"/>
          </a:xfrm>
        </p:spPr>
        <p:txBody>
          <a:bodyPr>
            <a:normAutofit/>
          </a:bodyPr>
          <a:lstStyle/>
          <a:p>
            <a:r>
              <a:rPr lang="en-US" b="1" i="1" u="sng" dirty="0">
                <a:effectLst/>
                <a:latin typeface="Tw Cen MT (Body)"/>
              </a:rPr>
              <a:t>Phase 3 - Incremental Learning with EWC</a:t>
            </a:r>
            <a:endParaRPr lang="en-US" i="1" u="sng" dirty="0">
              <a:latin typeface="Tw Cen MT (Body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61815-F43F-4E0D-9EF6-9B063E38A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9" y="1925782"/>
            <a:ext cx="10364452" cy="3574473"/>
          </a:xfrm>
        </p:spPr>
        <p:txBody>
          <a:bodyPr>
            <a:normAutofit/>
          </a:bodyPr>
          <a:lstStyle/>
          <a:p>
            <a:pPr algn="l"/>
            <a:r>
              <a:rPr lang="en-US" sz="2400" b="1" i="0" dirty="0">
                <a:effectLst/>
                <a:latin typeface="quote-cjk-patch"/>
              </a:rPr>
              <a:t>Goal:</a:t>
            </a:r>
            <a:r>
              <a:rPr lang="en-US" sz="2400" b="0" i="0" dirty="0">
                <a:effectLst/>
                <a:latin typeface="quote-cjk-patch"/>
              </a:rPr>
              <a:t> Learn from new data (50 images/class) without catastrophic forgetting.</a:t>
            </a:r>
          </a:p>
          <a:p>
            <a:pPr algn="l"/>
            <a:r>
              <a:rPr lang="en-US" sz="2400" i="0" dirty="0">
                <a:effectLst/>
                <a:latin typeface="quote-cjk-patch"/>
              </a:rPr>
              <a:t>Core Technique: </a:t>
            </a:r>
            <a:r>
              <a:rPr lang="en-US" sz="2400" b="1" i="0" dirty="0">
                <a:effectLst/>
                <a:latin typeface="quote-cjk-patch"/>
              </a:rPr>
              <a:t>Elastic Weight Consolidation (EWC)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effectLst/>
                <a:latin typeface="quote-cjk-patch"/>
              </a:rPr>
              <a:t>Works BY calculates a Fisher Information Matrix to identify the most important weights for previous tasks AND APPLY PENALTY.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effectLst/>
                <a:latin typeface="quote-cjk-patch"/>
              </a:rPr>
              <a:t>Balances learning new information (Turmeric) with retaining old knowledge (</a:t>
            </a:r>
            <a:r>
              <a:rPr lang="en-US" sz="2400" i="0" dirty="0" err="1">
                <a:effectLst/>
                <a:latin typeface="quote-cjk-patch"/>
              </a:rPr>
              <a:t>PlantVillage</a:t>
            </a:r>
            <a:r>
              <a:rPr lang="en-US" sz="2400" i="0" dirty="0">
                <a:effectLst/>
                <a:latin typeface="quote-cjk-patch"/>
              </a:rPr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162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828AF-47D2-4E03-9CF0-9B573457E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7180"/>
            <a:ext cx="10515600" cy="493857"/>
          </a:xfrm>
        </p:spPr>
        <p:txBody>
          <a:bodyPr>
            <a:normAutofit fontScale="90000"/>
          </a:bodyPr>
          <a:lstStyle/>
          <a:p>
            <a:r>
              <a:rPr lang="en-US" b="1" i="0" u="sng" dirty="0">
                <a:effectLst/>
                <a:latin typeface="quote-cjk-patch"/>
              </a:rPr>
              <a:t>Phase 3 - OUTPUT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BAB5D6-D988-4450-BF48-823E1EF36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52101"/>
            <a:ext cx="6173061" cy="53537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D8D4CC-A213-4C6A-B154-2731E8B85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03" y="3248858"/>
            <a:ext cx="5416435" cy="2793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2A4163-291C-46F4-8A52-3C425566F9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1542"/>
          <a:stretch/>
        </p:blipFill>
        <p:spPr>
          <a:xfrm>
            <a:off x="151843" y="1438713"/>
            <a:ext cx="5944157" cy="105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17254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514</TotalTime>
  <Words>725</Words>
  <Application>Microsoft Office PowerPoint</Application>
  <PresentationFormat>Widescreen</PresentationFormat>
  <Paragraphs>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Alexandria Bold</vt:lpstr>
      <vt:lpstr>Arial</vt:lpstr>
      <vt:lpstr>Consolas</vt:lpstr>
      <vt:lpstr>Cormorant Garamond Bold</vt:lpstr>
      <vt:lpstr>DeepSeek-CJK-patch</vt:lpstr>
      <vt:lpstr>Garet</vt:lpstr>
      <vt:lpstr>Glacial Indifference</vt:lpstr>
      <vt:lpstr>quote-cjk-patch</vt:lpstr>
      <vt:lpstr>Tw Cen MT</vt:lpstr>
      <vt:lpstr>Tw Cen MT (Body)</vt:lpstr>
      <vt:lpstr>Droplet</vt:lpstr>
      <vt:lpstr>DEMONSTRATION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CLASSIFIER Base model details</vt:lpstr>
      <vt:lpstr>training phase</vt:lpstr>
      <vt:lpstr>Data set details </vt:lpstr>
      <vt:lpstr>Phase 1 - Foundation Model (Scratch Training) </vt:lpstr>
      <vt:lpstr>Phase 1 - OUTPUT</vt:lpstr>
      <vt:lpstr>Phase 2 - Knowledge-Preserving Transfer Learning </vt:lpstr>
      <vt:lpstr>Phase 2 - OUTPUT</vt:lpstr>
      <vt:lpstr>Phase 3 - Incremental Learning with EWC</vt:lpstr>
      <vt:lpstr>Phase 3 - 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04</dc:title>
  <dc:creator>Royce theeban</dc:creator>
  <cp:lastModifiedBy>Royce theeban</cp:lastModifiedBy>
  <cp:revision>9</cp:revision>
  <dcterms:created xsi:type="dcterms:W3CDTF">2025-08-26T03:41:12Z</dcterms:created>
  <dcterms:modified xsi:type="dcterms:W3CDTF">2025-08-27T02:21:17Z</dcterms:modified>
</cp:coreProperties>
</file>