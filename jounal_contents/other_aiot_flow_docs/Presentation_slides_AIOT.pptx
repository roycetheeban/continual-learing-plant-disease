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3" r:id="rId9"/>
    <p:sldId id="268" r:id="rId10"/>
    <p:sldId id="264" r:id="rId11"/>
    <p:sldId id="275" r:id="rId12"/>
    <p:sldId id="274" r:id="rId13"/>
    <p:sldId id="277" r:id="rId14"/>
    <p:sldId id="279" r:id="rId15"/>
    <p:sldId id="271" r:id="rId16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ormorant Garamond Bold" panose="020B0604020202020204" charset="0"/>
      <p:regular r:id="rId22"/>
    </p:embeddedFont>
    <p:embeddedFont>
      <p:font typeface="Cormorant Garamond Bold Italics" panose="020B0604020202020204" charset="0"/>
      <p:regular r:id="rId23"/>
    </p:embeddedFont>
    <p:embeddedFont>
      <p:font typeface="Garet" panose="020B0604020202020204" charset="0"/>
      <p:regular r:id="rId24"/>
    </p:embeddedFont>
    <p:embeddedFont>
      <p:font typeface="Glacial Indifference" panose="020B0604020202020204" charset="0"/>
      <p:regular r:id="rId25"/>
    </p:embeddedFont>
    <p:embeddedFont>
      <p:font typeface="Glacial Indifference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1016" autoAdjust="0"/>
  </p:normalViewPr>
  <p:slideViewPr>
    <p:cSldViewPr>
      <p:cViewPr varScale="1">
        <p:scale>
          <a:sx n="42" d="100"/>
          <a:sy n="42" d="100"/>
        </p:scale>
        <p:origin x="996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3CFCB-C605-4C1C-B12F-34EBD689407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14C0C-BC0C-4E80-9DDE-519804A62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0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14C0C-BC0C-4E80-9DDE-519804A62A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5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14C0C-BC0C-4E80-9DDE-519804A62A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48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svg"/><Relationship Id="rId7" Type="http://schemas.openxmlformats.org/officeDocument/2006/relationships/image" Target="../media/image21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591" y="1732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962621" y="-389349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809790" y="5826116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72250" y="2150568"/>
            <a:ext cx="14943500" cy="2801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88"/>
              </a:lnSpc>
            </a:pPr>
            <a:r>
              <a:rPr lang="en-US" sz="7188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AIOT DRIVEN GREEN HOUSE MONITORING AND PREDICTIVE ANALYSIS</a:t>
            </a:r>
          </a:p>
        </p:txBody>
      </p:sp>
      <p:sp>
        <p:nvSpPr>
          <p:cNvPr id="8" name="AutoShape 8"/>
          <p:cNvSpPr/>
          <p:nvPr/>
        </p:nvSpPr>
        <p:spPr>
          <a:xfrm flipH="1">
            <a:off x="1371600" y="934569"/>
            <a:ext cx="0" cy="8247531"/>
          </a:xfrm>
          <a:prstGeom prst="line">
            <a:avLst/>
          </a:prstGeom>
          <a:ln w="57150" cap="flat">
            <a:solidFill>
              <a:srgbClr val="2D38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0C6EECBE-2FEC-4082-B0A9-92694B101FFA}"/>
              </a:ext>
            </a:extLst>
          </p:cNvPr>
          <p:cNvSpPr txBox="1"/>
          <p:nvPr/>
        </p:nvSpPr>
        <p:spPr>
          <a:xfrm>
            <a:off x="4062982" y="5427849"/>
            <a:ext cx="10162036" cy="3338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Supervisor: Dr. T.MUKUNTHAN</a:t>
            </a:r>
          </a:p>
          <a:p>
            <a:pPr algn="ctr">
              <a:lnSpc>
                <a:spcPts val="6256"/>
              </a:lnSpc>
              <a:spcBef>
                <a:spcPct val="0"/>
              </a:spcBef>
            </a:pPr>
            <a:endParaRPr lang="en-US" sz="3600" b="1" dirty="0">
              <a:solidFill>
                <a:schemeClr val="tx2">
                  <a:lumMod val="75000"/>
                </a:schemeClr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4480"/>
              </a:lnSpc>
            </a:pPr>
            <a:r>
              <a:rPr lang="pt-BR" sz="3600" b="1" dirty="0">
                <a:solidFill>
                  <a:schemeClr val="tx2">
                    <a:lumMod val="75000"/>
                  </a:scheme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Reg No:</a:t>
            </a:r>
          </a:p>
          <a:p>
            <a:pPr algn="ctr">
              <a:lnSpc>
                <a:spcPts val="4480"/>
              </a:lnSpc>
            </a:pPr>
            <a:r>
              <a:rPr lang="pt-BR" sz="3600" b="1" dirty="0">
                <a:solidFill>
                  <a:schemeClr val="tx2">
                    <a:lumMod val="75000"/>
                  </a:scheme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2021/E/015</a:t>
            </a:r>
          </a:p>
          <a:p>
            <a:pPr algn="ctr">
              <a:lnSpc>
                <a:spcPts val="4480"/>
              </a:lnSpc>
            </a:pPr>
            <a:r>
              <a:rPr lang="pt-BR" sz="3600" b="1" dirty="0">
                <a:solidFill>
                  <a:schemeClr val="tx2">
                    <a:lumMod val="75000"/>
                  </a:scheme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2021/E/123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41262" y="6765461"/>
            <a:ext cx="5703543" cy="4490244"/>
          </a:xfrm>
          <a:custGeom>
            <a:avLst/>
            <a:gdLst/>
            <a:ahLst/>
            <a:cxnLst/>
            <a:rect l="l" t="t" r="r" b="b"/>
            <a:pathLst>
              <a:path w="5703543" h="4490244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87794" y="648305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72551" y="442297"/>
            <a:ext cx="12715243" cy="1263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80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Contents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786379" y="3029301"/>
            <a:ext cx="842787" cy="84278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86379" y="4157838"/>
            <a:ext cx="842787" cy="8427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86379" y="5286375"/>
            <a:ext cx="842787" cy="8427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86379" y="6414912"/>
            <a:ext cx="842787" cy="84278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05638" y="3325648"/>
            <a:ext cx="842787" cy="84278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05638" y="4500220"/>
            <a:ext cx="842787" cy="84278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05638" y="5720476"/>
            <a:ext cx="842787" cy="84278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07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837582" y="3164945"/>
            <a:ext cx="495508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37582" y="4293482"/>
            <a:ext cx="495508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0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 Statement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37582" y="5417431"/>
            <a:ext cx="495508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0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Objective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938003" y="6584211"/>
            <a:ext cx="495508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Research gap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637262" y="3546423"/>
            <a:ext cx="4956216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Methodology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37262" y="4652690"/>
            <a:ext cx="4956216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Architecture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02</a:t>
            </a:r>
          </a:p>
        </p:txBody>
      </p:sp>
      <p:sp>
        <p:nvSpPr>
          <p:cNvPr id="38" name="TextBox 36">
            <a:extLst>
              <a:ext uri="{FF2B5EF4-FFF2-40B4-BE49-F238E27FC236}">
                <a16:creationId xmlns:a16="http://schemas.microsoft.com/office/drawing/2014/main" id="{AACBF9FC-7A4F-4039-957B-784724A700E4}"/>
              </a:ext>
            </a:extLst>
          </p:cNvPr>
          <p:cNvSpPr txBox="1"/>
          <p:nvPr/>
        </p:nvSpPr>
        <p:spPr>
          <a:xfrm>
            <a:off x="10637262" y="5874169"/>
            <a:ext cx="4956216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0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2858706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62576" y="1822718"/>
            <a:ext cx="1162247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Plant diseases cause billions in global agricultural losses, threatening food security and turmeric yields.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Our AI-powered pipeline on Jetson Orin Nano automates real-time disease detection for turmeric.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Integrating image and sensor data enables precise, environment-aware monitoring on edge devices.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Continual learning with automatic image generalization ensures adaptability to new disease patterns</a:t>
            </a:r>
            <a:endParaRPr lang="en-US" sz="4000" dirty="0">
              <a:solidFill>
                <a:schemeClr val="tx2">
                  <a:lumMod val="50000"/>
                </a:schemeClr>
              </a:solidFill>
              <a:latin typeface="Glacial Indifference" panose="020B0604020202020204" charset="0"/>
              <a:ea typeface="Glacial Indifference"/>
              <a:cs typeface="Glacial Indifference" panose="020B0604020202020204" charset="0"/>
              <a:sym typeface="Glacial Indifferen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70196" y="0"/>
            <a:ext cx="8115300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66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  <a:endParaRPr lang="en-US" sz="7200" b="1" i="1" dirty="0">
              <a:solidFill>
                <a:srgbClr val="2D3880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03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49288EB-CFBF-44D4-8D6C-1B8AE90E6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Freeform 35">
            <a:extLst>
              <a:ext uri="{FF2B5EF4-FFF2-40B4-BE49-F238E27FC236}">
                <a16:creationId xmlns:a16="http://schemas.microsoft.com/office/drawing/2014/main" id="{31BE0B83-C95F-421A-A988-5ACAD0C3EF4C}"/>
              </a:ext>
            </a:extLst>
          </p:cNvPr>
          <p:cNvSpPr/>
          <p:nvPr/>
        </p:nvSpPr>
        <p:spPr>
          <a:xfrm>
            <a:off x="11985053" y="4948348"/>
            <a:ext cx="6753203" cy="5333221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9DC91EEE-BDF4-40D4-9BE3-788D6982EED3}"/>
              </a:ext>
            </a:extLst>
          </p:cNvPr>
          <p:cNvSpPr/>
          <p:nvPr/>
        </p:nvSpPr>
        <p:spPr>
          <a:xfrm>
            <a:off x="11985053" y="-1492576"/>
            <a:ext cx="9334600" cy="6440923"/>
          </a:xfrm>
          <a:custGeom>
            <a:avLst/>
            <a:gdLst/>
            <a:ahLst/>
            <a:cxnLst/>
            <a:rect l="l" t="t" r="r" b="b"/>
            <a:pathLst>
              <a:path w="12352120" h="822960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65988" y="7962900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328936" y="1714079"/>
            <a:ext cx="1466396" cy="1239104"/>
          </a:xfrm>
          <a:custGeom>
            <a:avLst/>
            <a:gdLst/>
            <a:ahLst/>
            <a:cxnLst/>
            <a:rect l="l" t="t" r="r" b="b"/>
            <a:pathLst>
              <a:path w="1466396" h="1239104">
                <a:moveTo>
                  <a:pt x="0" y="0"/>
                </a:moveTo>
                <a:lnTo>
                  <a:pt x="1466396" y="0"/>
                </a:lnTo>
                <a:lnTo>
                  <a:pt x="1466396" y="1239104"/>
                </a:lnTo>
                <a:lnTo>
                  <a:pt x="0" y="1239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53800" y="105768"/>
            <a:ext cx="1466396" cy="1466396"/>
          </a:xfrm>
          <a:custGeom>
            <a:avLst/>
            <a:gdLst/>
            <a:ahLst/>
            <a:cxnLst/>
            <a:rect l="l" t="t" r="r" b="b"/>
            <a:pathLst>
              <a:path w="1466396" h="1466396">
                <a:moveTo>
                  <a:pt x="0" y="0"/>
                </a:moveTo>
                <a:lnTo>
                  <a:pt x="1466396" y="0"/>
                </a:lnTo>
                <a:lnTo>
                  <a:pt x="1466396" y="1466396"/>
                </a:lnTo>
                <a:lnTo>
                  <a:pt x="0" y="1466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33400" y="155609"/>
            <a:ext cx="9089741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66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PROBLEM</a:t>
            </a:r>
            <a:r>
              <a:rPr lang="en-US" sz="7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43200" y="2333631"/>
            <a:ext cx="14677875" cy="7448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Manual disease detection is labor-intensive and error-prone, limiting scalability.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Most systems rely solely on image data, neglecting environmental context.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Glacial Indifference" panose="020B0604020202020204" charset="0"/>
              <a:cs typeface="Glacial Indifference" panose="020B060402020202020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Generic dataset-trained models falter in real-world conditions, reducing accuracy.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Glacial Indifference" panose="020B0604020202020204" charset="0"/>
              <a:cs typeface="Glacial Indifference" panose="020B060402020202020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Continual learning risks catastrophic forgetting, hindering adaptation to new diseases.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04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F33FCE7-BCE4-4C90-938B-D4E3ABA54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182390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7194" y="3034859"/>
            <a:ext cx="1466396" cy="1239104"/>
          </a:xfrm>
          <a:custGeom>
            <a:avLst/>
            <a:gdLst/>
            <a:ahLst/>
            <a:cxnLst/>
            <a:rect l="l" t="t" r="r" b="b"/>
            <a:pathLst>
              <a:path w="1466396" h="1239104">
                <a:moveTo>
                  <a:pt x="0" y="0"/>
                </a:moveTo>
                <a:lnTo>
                  <a:pt x="1466396" y="0"/>
                </a:lnTo>
                <a:lnTo>
                  <a:pt x="1466396" y="1239105"/>
                </a:lnTo>
                <a:lnTo>
                  <a:pt x="0" y="1239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19600" y="7140516"/>
            <a:ext cx="1466396" cy="1466396"/>
          </a:xfrm>
          <a:custGeom>
            <a:avLst/>
            <a:gdLst/>
            <a:ahLst/>
            <a:cxnLst/>
            <a:rect l="l" t="t" r="r" b="b"/>
            <a:pathLst>
              <a:path w="1466396" h="1466396">
                <a:moveTo>
                  <a:pt x="0" y="0"/>
                </a:moveTo>
                <a:lnTo>
                  <a:pt x="1466396" y="0"/>
                </a:lnTo>
                <a:lnTo>
                  <a:pt x="1466396" y="1466396"/>
                </a:lnTo>
                <a:lnTo>
                  <a:pt x="0" y="1466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67000" y="4992095"/>
            <a:ext cx="1466396" cy="1466396"/>
          </a:xfrm>
          <a:custGeom>
            <a:avLst/>
            <a:gdLst/>
            <a:ahLst/>
            <a:cxnLst/>
            <a:rect l="l" t="t" r="r" b="b"/>
            <a:pathLst>
              <a:path w="1466396" h="1466396">
                <a:moveTo>
                  <a:pt x="0" y="0"/>
                </a:moveTo>
                <a:lnTo>
                  <a:pt x="1466395" y="0"/>
                </a:lnTo>
                <a:lnTo>
                  <a:pt x="1466395" y="1466396"/>
                </a:lnTo>
                <a:lnTo>
                  <a:pt x="0" y="1466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12011" y="5774"/>
            <a:ext cx="7955327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7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2011" y="1492020"/>
            <a:ext cx="16383000" cy="2400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Develop and implement a real-time system for detecting turmeric leaf diseases on Jetson Orin Nano</a:t>
            </a:r>
            <a:r>
              <a:rPr lang="en-US" sz="3600" dirty="0">
                <a:effectLst/>
              </a:rPr>
              <a:t>.</a:t>
            </a: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tx2"/>
              </a:solidFill>
              <a:latin typeface="Glacial Indifference" panose="020B0604020202020204" charset="0"/>
              <a:cs typeface="Glacial Indifference" panose="020B060402020202020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432351" y="5144231"/>
            <a:ext cx="13639800" cy="2400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Develop a continual learning system for adapting the model to new data over time using Elastic Weight Consolidation (EWC).</a:t>
            </a: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tx2"/>
              </a:solidFill>
              <a:latin typeface="Glacial Indifference" panose="020B0604020202020204" charset="0"/>
              <a:cs typeface="Glacial Indifference" panose="020B060402020202020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05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E147C49A-CCC0-4D05-9568-A848A61314E7}"/>
              </a:ext>
            </a:extLst>
          </p:cNvPr>
          <p:cNvSpPr txBox="1"/>
          <p:nvPr/>
        </p:nvSpPr>
        <p:spPr>
          <a:xfrm>
            <a:off x="6504991" y="7462222"/>
            <a:ext cx="12268200" cy="2400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Develop a real-time monitoring dashboard using </a:t>
            </a:r>
            <a:r>
              <a:rPr lang="en-US" sz="3600" dirty="0" err="1"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Streamlit</a:t>
            </a:r>
            <a:r>
              <a:rPr lang="en-US" sz="3600" dirty="0"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 to visualize model predictions and performance metrics.</a:t>
            </a: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tx2"/>
              </a:solidFill>
              <a:latin typeface="Glacial Indifference" panose="020B0604020202020204" charset="0"/>
              <a:cs typeface="Glacial Indifference" panose="020B0604020202020204" charset="0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6CEBCA37-3B91-4B2B-A2E2-324E38ED1CFB}"/>
              </a:ext>
            </a:extLst>
          </p:cNvPr>
          <p:cNvSpPr txBox="1"/>
          <p:nvPr/>
        </p:nvSpPr>
        <p:spPr>
          <a:xfrm>
            <a:off x="2774138" y="3431430"/>
            <a:ext cx="15544800" cy="1984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286" lvl="1" indent="-334643">
              <a:lnSpc>
                <a:spcPts val="5269"/>
              </a:lnSpc>
              <a:buFont typeface="Arial"/>
              <a:buChar char="•"/>
            </a:pPr>
            <a:r>
              <a:rPr lang="en-US" sz="3600" dirty="0">
                <a:solidFill>
                  <a:schemeClr val="tx2">
                    <a:lumMod val="50000"/>
                  </a:schemeClr>
                </a:solidFill>
                <a:effectLst/>
                <a:latin typeface="Glacial Indifference" panose="020B0604020202020204" charset="0"/>
                <a:cs typeface="Glacial Indifference" panose="020B0604020202020204" charset="0"/>
              </a:rPr>
              <a:t>Implement a lightweight Generative Adversarial Network (GAN) to recover occluded portions of leaves in images.</a:t>
            </a:r>
          </a:p>
          <a:p>
            <a:pPr marL="669286" lvl="1" indent="-334643">
              <a:lnSpc>
                <a:spcPts val="5269"/>
              </a:lnSpc>
              <a:buFont typeface="Arial"/>
              <a:buChar char="•"/>
            </a:pPr>
            <a:endParaRPr lang="en-US" sz="3600" dirty="0">
              <a:solidFill>
                <a:schemeClr val="tx2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11200" y="-41910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38839" y="589357"/>
            <a:ext cx="13203779" cy="945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25"/>
              </a:lnSpc>
            </a:pPr>
            <a:r>
              <a:rPr lang="en-US" sz="7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RESEARCH GAP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8839" y="2371725"/>
            <a:ext cx="13433393" cy="68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17"/>
              </a:lnSpc>
            </a:pPr>
            <a:endParaRPr lang="en-US" sz="4163" dirty="0">
              <a:solidFill>
                <a:srgbClr val="2D388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06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A07AAB0B-2770-4055-B8F7-9E7E2FD42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856732"/>
              </p:ext>
            </p:extLst>
          </p:nvPr>
        </p:nvGraphicFramePr>
        <p:xfrm>
          <a:off x="1194158" y="2341245"/>
          <a:ext cx="14935958" cy="6549743"/>
        </p:xfrm>
        <a:graphic>
          <a:graphicData uri="http://schemas.openxmlformats.org/drawingml/2006/table">
            <a:tbl>
              <a:tblPr/>
              <a:tblGrid>
                <a:gridCol w="7467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9833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3600" b="0" dirty="0">
                          <a:solidFill>
                            <a:srgbClr val="000000"/>
                          </a:solidFill>
                          <a:latin typeface="Glacial Indifference Bold"/>
                          <a:sym typeface="Glacial Indifference Bold"/>
                        </a:rPr>
                        <a:t>CURRENT LIMITATION</a:t>
                      </a:r>
                      <a:endParaRPr lang="en-US" sz="1400" b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D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3600" b="0" dirty="0">
                          <a:solidFill>
                            <a:srgbClr val="000000"/>
                          </a:solidFill>
                          <a:latin typeface="Glacial Indifference Bold"/>
                          <a:sym typeface="Glacial Indifference Bold"/>
                        </a:rPr>
                        <a:t>OUR INNOVATION</a:t>
                      </a:r>
                      <a:endParaRPr lang="en-US" sz="1400" b="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6078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3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Static models degrade over time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3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Continual learning with data buffer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296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3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Poor occlusion handling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40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effectLst/>
                        </a:rPr>
                        <a:t>Lightweight GAN-based leaf reconstruction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5296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3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Isolated vision/sensor data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40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3600" dirty="0">
                          <a:effectLst/>
                        </a:rPr>
                        <a:t>Multi-modal fusion (MobileNetV3-Small + Decision Tree)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4465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3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Catastrophic forgetting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3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EWC-based incremental learning</a:t>
                      </a:r>
                      <a:endParaRPr lang="en-US" sz="20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4926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7200" y="83576"/>
            <a:ext cx="10094143" cy="10287000"/>
            <a:chOff x="0" y="0"/>
            <a:chExt cx="1667662" cy="2709333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667662" cy="2709333"/>
            </a:xfrm>
            <a:custGeom>
              <a:avLst/>
              <a:gdLst/>
              <a:ahLst/>
              <a:cxnLst/>
              <a:rect l="l" t="t" r="r" b="b"/>
              <a:pathLst>
                <a:path w="1667662" h="2709333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/>
            <a:lstStyle/>
            <a:p>
              <a:endParaRPr lang="en-US" dirty="0">
                <a:highlight>
                  <a:srgbClr val="00FF00"/>
                </a:highlight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highlight>
                  <a:srgbClr val="00FF00"/>
                </a:highlight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4250" y="294005"/>
            <a:ext cx="6244818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75"/>
              </a:lnSpc>
            </a:pPr>
            <a:r>
              <a:rPr lang="en-US" sz="7100" b="1" i="1" dirty="0"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2903" y="9665579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07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69CCF1-E19F-4366-8E95-F05E6D4C1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7757" y="1825143"/>
            <a:ext cx="6968043" cy="1870557"/>
          </a:xfrm>
          <a:ln w="57150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Data collection</a:t>
            </a:r>
          </a:p>
          <a:p>
            <a:r>
              <a:rPr lang="en-US" sz="3200" dirty="0">
                <a:solidFill>
                  <a:schemeClr val="tx1"/>
                </a:solidFill>
              </a:rPr>
              <a:t>- High-res cameras + mobile phones</a:t>
            </a:r>
          </a:p>
          <a:p>
            <a:r>
              <a:rPr lang="en-US" sz="3200" dirty="0">
                <a:solidFill>
                  <a:schemeClr val="tx1"/>
                </a:solidFill>
              </a:rPr>
              <a:t>-Mendeley, Kaggle, plant village internet available dataset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BD98C2D-E16D-4B86-8375-0861F1BE81B5}"/>
              </a:ext>
            </a:extLst>
          </p:cNvPr>
          <p:cNvSpPr txBox="1">
            <a:spLocks/>
          </p:cNvSpPr>
          <p:nvPr/>
        </p:nvSpPr>
        <p:spPr>
          <a:xfrm>
            <a:off x="1337757" y="4773252"/>
            <a:ext cx="6934200" cy="1870557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sz="3500" dirty="0">
              <a:solidFill>
                <a:schemeClr val="tx1"/>
              </a:solidFill>
            </a:endParaRP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253B397-2661-467E-843D-7457AB6C1456}"/>
              </a:ext>
            </a:extLst>
          </p:cNvPr>
          <p:cNvSpPr txBox="1">
            <a:spLocks/>
          </p:cNvSpPr>
          <p:nvPr/>
        </p:nvSpPr>
        <p:spPr>
          <a:xfrm>
            <a:off x="10117679" y="3793870"/>
            <a:ext cx="7934678" cy="2024590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900" b="1" dirty="0">
                <a:solidFill>
                  <a:schemeClr val="tx1"/>
                </a:solidFill>
              </a:rPr>
              <a:t>Light weight GAN</a:t>
            </a:r>
          </a:p>
          <a:p>
            <a:r>
              <a:rPr lang="en-US" sz="3500" dirty="0">
                <a:solidFill>
                  <a:schemeClr val="tx1"/>
                </a:solidFill>
              </a:rPr>
              <a:t>-Reconstructs leaf edges</a:t>
            </a:r>
          </a:p>
          <a:p>
            <a:r>
              <a:rPr lang="en-US" sz="3500" dirty="0">
                <a:solidFill>
                  <a:schemeClr val="tx1"/>
                </a:solidFill>
              </a:rPr>
              <a:t>-synthetic occlusion created from real images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1E410FE-7606-413F-B0AF-E84E66FBE4B4}"/>
              </a:ext>
            </a:extLst>
          </p:cNvPr>
          <p:cNvSpPr txBox="1">
            <a:spLocks/>
          </p:cNvSpPr>
          <p:nvPr/>
        </p:nvSpPr>
        <p:spPr>
          <a:xfrm>
            <a:off x="9925219" y="7165696"/>
            <a:ext cx="8127140" cy="2332731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3800" dirty="0">
              <a:solidFill>
                <a:schemeClr val="tx1"/>
              </a:solidFill>
            </a:endParaRP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3742343-A364-4A92-A8A1-780C3F4FFB6E}"/>
              </a:ext>
            </a:extLst>
          </p:cNvPr>
          <p:cNvSpPr txBox="1">
            <a:spLocks/>
          </p:cNvSpPr>
          <p:nvPr/>
        </p:nvSpPr>
        <p:spPr>
          <a:xfrm>
            <a:off x="1295491" y="7849507"/>
            <a:ext cx="6934200" cy="1870557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YOLOv8 Detection</a:t>
            </a:r>
          </a:p>
          <a:p>
            <a:r>
              <a:rPr lang="en-US" sz="3200" dirty="0">
                <a:solidFill>
                  <a:schemeClr val="tx1"/>
                </a:solidFill>
              </a:rPr>
              <a:t>- YOLOv8 detects and crop’s individual leaves and separate as block,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1DC721-C6FC-4D04-B5BA-36FCCA14CE8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821779" y="3695700"/>
            <a:ext cx="16921" cy="104377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89126B-F9E7-4717-98C1-A61C6601F1A4}"/>
              </a:ext>
            </a:extLst>
          </p:cNvPr>
          <p:cNvCxnSpPr>
            <a:cxnSpLocks/>
          </p:cNvCxnSpPr>
          <p:nvPr/>
        </p:nvCxnSpPr>
        <p:spPr>
          <a:xfrm>
            <a:off x="4838700" y="6643809"/>
            <a:ext cx="0" cy="104377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8C3098-08E9-4296-9EAD-CCA2C12C0BE1}"/>
              </a:ext>
            </a:extLst>
          </p:cNvPr>
          <p:cNvCxnSpPr>
            <a:cxnSpLocks/>
          </p:cNvCxnSpPr>
          <p:nvPr/>
        </p:nvCxnSpPr>
        <p:spPr>
          <a:xfrm>
            <a:off x="14147346" y="2885117"/>
            <a:ext cx="0" cy="8105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B7E4D7-FEE3-421B-94A8-AA59365C1D09}"/>
              </a:ext>
            </a:extLst>
          </p:cNvPr>
          <p:cNvCxnSpPr>
            <a:cxnSpLocks/>
          </p:cNvCxnSpPr>
          <p:nvPr/>
        </p:nvCxnSpPr>
        <p:spPr>
          <a:xfrm>
            <a:off x="14200686" y="5879704"/>
            <a:ext cx="0" cy="104377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59072EA-8F9D-4A22-9A2F-139436D125C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43853" y="5192853"/>
            <a:ext cx="6269280" cy="1404407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819429-D7AD-4159-A8CC-93CBE7D86FBC}"/>
              </a:ext>
            </a:extLst>
          </p:cNvPr>
          <p:cNvCxnSpPr/>
          <p:nvPr/>
        </p:nvCxnSpPr>
        <p:spPr>
          <a:xfrm>
            <a:off x="8305800" y="9029700"/>
            <a:ext cx="2286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40EFF4A-34E0-4162-A03A-94D7D74A284C}"/>
              </a:ext>
            </a:extLst>
          </p:cNvPr>
          <p:cNvSpPr txBox="1"/>
          <p:nvPr/>
        </p:nvSpPr>
        <p:spPr>
          <a:xfrm>
            <a:off x="1457338" y="4921607"/>
            <a:ext cx="707180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Image Annotation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>
                <a:solidFill>
                  <a:schemeClr val="tx1"/>
                </a:solidFill>
              </a:rPr>
              <a:t>-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Roboflow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bounding box labeling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-Polygon tool for segmentation labeling </a:t>
            </a:r>
          </a:p>
          <a:p>
            <a:endParaRPr lang="en-US" sz="3200" dirty="0">
              <a:solidFill>
                <a:schemeClr val="tx1"/>
              </a:solidFill>
            </a:endParaRPr>
          </a:p>
          <a:p>
            <a:endParaRPr lang="en-US" sz="32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CFF6A44-6BEE-4806-99A3-F6BC1E32A007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3988789" y="9498427"/>
            <a:ext cx="0" cy="7533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253B397-2661-467E-843D-7457AB6C1456}"/>
              </a:ext>
            </a:extLst>
          </p:cNvPr>
          <p:cNvSpPr txBox="1">
            <a:spLocks/>
          </p:cNvSpPr>
          <p:nvPr/>
        </p:nvSpPr>
        <p:spPr>
          <a:xfrm>
            <a:off x="9848890" y="774221"/>
            <a:ext cx="8203467" cy="1912693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solidFill>
                  <a:schemeClr val="tx1"/>
                </a:solidFill>
              </a:rPr>
              <a:t>YOLOv8 Segmentation</a:t>
            </a:r>
          </a:p>
          <a:p>
            <a:r>
              <a:rPr lang="en-US" sz="3500" dirty="0">
                <a:solidFill>
                  <a:schemeClr val="tx1"/>
                </a:solidFill>
              </a:rPr>
              <a:t>- Segments each leaf from complex backgrounds</a:t>
            </a:r>
            <a:br>
              <a:rPr lang="en-US" sz="3500" dirty="0">
                <a:solidFill>
                  <a:schemeClr val="tx1"/>
                </a:solidFill>
              </a:rPr>
            </a:br>
            <a:r>
              <a:rPr lang="en-US" sz="3500" dirty="0">
                <a:solidFill>
                  <a:schemeClr val="tx1"/>
                </a:solidFill>
              </a:rPr>
              <a:t>- Converts the noisy background into black.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9E0CD3-C66F-46A2-B8E0-84CB3AFD726A}"/>
              </a:ext>
            </a:extLst>
          </p:cNvPr>
          <p:cNvSpPr txBox="1"/>
          <p:nvPr/>
        </p:nvSpPr>
        <p:spPr>
          <a:xfrm>
            <a:off x="9578434" y="7165696"/>
            <a:ext cx="820346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  <a:effectLst/>
              </a:rPr>
              <a:t>MobileNetV3-Small 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-</a:t>
            </a:r>
            <a:r>
              <a:rPr lang="en-US" sz="3200" dirty="0">
                <a:solidFill>
                  <a:schemeClr val="tx1"/>
                </a:solidFill>
                <a:effectLst/>
              </a:rPr>
              <a:t>Train from scratch on 15 Plant Village classes</a:t>
            </a:r>
          </a:p>
          <a:p>
            <a:pPr lvl="1"/>
            <a:r>
              <a:rPr lang="en-US" sz="3200" dirty="0">
                <a:solidFill>
                  <a:schemeClr val="tx1"/>
                </a:solidFill>
              </a:rPr>
              <a:t>-Fine-tune with turmeric dataset (Mendeley + Kaggle)</a:t>
            </a:r>
            <a:endParaRPr lang="en-US" sz="3200" dirty="0">
              <a:solidFill>
                <a:schemeClr val="tx1"/>
              </a:solidFill>
              <a:effectLst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2917" y="-108496"/>
            <a:ext cx="10202544" cy="10503991"/>
            <a:chOff x="-17909" y="-57150"/>
            <a:chExt cx="1685571" cy="2766483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-17909" y="0"/>
              <a:ext cx="1667662" cy="2709333"/>
            </a:xfrm>
            <a:custGeom>
              <a:avLst/>
              <a:gdLst/>
              <a:ahLst/>
              <a:cxnLst/>
              <a:rect l="l" t="t" r="r" b="b"/>
              <a:pathLst>
                <a:path w="1667662" h="2709333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4250" y="294005"/>
            <a:ext cx="6244818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75"/>
              </a:lnSpc>
            </a:pPr>
            <a:r>
              <a:rPr lang="en-US" sz="7100" b="1" i="1" dirty="0"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442" y="9696058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08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69CCF1-E19F-4366-8E95-F05E6D4C1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3946" y="4766115"/>
            <a:ext cx="6934200" cy="1828799"/>
          </a:xfrm>
          <a:ln w="5715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</a:rPr>
              <a:t>Environmental Risk via Decision Tree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Predicts temp/humidity risks 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4BD98C2D-E16D-4B86-8375-0861F1BE81B5}"/>
              </a:ext>
            </a:extLst>
          </p:cNvPr>
          <p:cNvSpPr txBox="1">
            <a:spLocks/>
          </p:cNvSpPr>
          <p:nvPr/>
        </p:nvSpPr>
        <p:spPr>
          <a:xfrm>
            <a:off x="1371600" y="7736478"/>
            <a:ext cx="6934200" cy="1580232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solidFill>
                  <a:schemeClr val="tx1"/>
                </a:solidFill>
              </a:rPr>
              <a:t>Fusion for Final Diagnosis</a:t>
            </a:r>
          </a:p>
          <a:p>
            <a:r>
              <a:rPr lang="en-US" sz="3500" dirty="0">
                <a:solidFill>
                  <a:schemeClr val="tx1"/>
                </a:solidFill>
              </a:rPr>
              <a:t>- Combines disease prediction and environmental risk predictions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253B397-2661-467E-843D-7457AB6C1456}"/>
              </a:ext>
            </a:extLst>
          </p:cNvPr>
          <p:cNvSpPr txBox="1">
            <a:spLocks/>
          </p:cNvSpPr>
          <p:nvPr/>
        </p:nvSpPr>
        <p:spPr>
          <a:xfrm>
            <a:off x="10386791" y="5372279"/>
            <a:ext cx="6903262" cy="1870557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chemeClr val="tx1"/>
                </a:solidFill>
              </a:rPr>
              <a:t>Streamlit</a:t>
            </a:r>
            <a:r>
              <a:rPr lang="en-US" sz="3600" b="1" dirty="0">
                <a:solidFill>
                  <a:schemeClr val="tx1"/>
                </a:solidFill>
              </a:rPr>
              <a:t> Real-Time Dashboard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Live alerts + history, flags for manual labeling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3742343-A364-4A92-A8A1-780C3F4FFB6E}"/>
              </a:ext>
            </a:extLst>
          </p:cNvPr>
          <p:cNvSpPr txBox="1">
            <a:spLocks/>
          </p:cNvSpPr>
          <p:nvPr/>
        </p:nvSpPr>
        <p:spPr>
          <a:xfrm>
            <a:off x="10286049" y="432398"/>
            <a:ext cx="6934200" cy="1870557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</a:rPr>
              <a:t>Edge Deployment</a:t>
            </a:r>
          </a:p>
          <a:p>
            <a:r>
              <a:rPr lang="en-US" sz="3600" dirty="0">
                <a:solidFill>
                  <a:schemeClr val="tx1"/>
                </a:solidFill>
              </a:rPr>
              <a:t> - Jetson Nano runs everything</a:t>
            </a:r>
          </a:p>
          <a:p>
            <a:r>
              <a:rPr lang="en-US" sz="3600" dirty="0">
                <a:solidFill>
                  <a:schemeClr val="tx1"/>
                </a:solidFill>
              </a:rPr>
              <a:t> - optimize for edge device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1DC721-C6FC-4D04-B5BA-36FCCA14CE85}"/>
              </a:ext>
            </a:extLst>
          </p:cNvPr>
          <p:cNvCxnSpPr>
            <a:cxnSpLocks/>
          </p:cNvCxnSpPr>
          <p:nvPr/>
        </p:nvCxnSpPr>
        <p:spPr>
          <a:xfrm>
            <a:off x="4838700" y="3398238"/>
            <a:ext cx="0" cy="136787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89126B-F9E7-4717-98C1-A61C6601F1A4}"/>
              </a:ext>
            </a:extLst>
          </p:cNvPr>
          <p:cNvCxnSpPr>
            <a:cxnSpLocks/>
          </p:cNvCxnSpPr>
          <p:nvPr/>
        </p:nvCxnSpPr>
        <p:spPr>
          <a:xfrm>
            <a:off x="4838700" y="6643809"/>
            <a:ext cx="0" cy="104377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59072EA-8F9D-4A22-9A2F-139436D125C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71073" y="4694880"/>
            <a:ext cx="7257323" cy="1329585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819429-D7AD-4159-A8CC-93CBE7D86FBC}"/>
              </a:ext>
            </a:extLst>
          </p:cNvPr>
          <p:cNvCxnSpPr>
            <a:cxnSpLocks/>
          </p:cNvCxnSpPr>
          <p:nvPr/>
        </p:nvCxnSpPr>
        <p:spPr>
          <a:xfrm>
            <a:off x="8305800" y="9029700"/>
            <a:ext cx="381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20534C07-E832-4D52-88F7-07FCC66A2219}"/>
              </a:ext>
            </a:extLst>
          </p:cNvPr>
          <p:cNvSpPr txBox="1">
            <a:spLocks/>
          </p:cNvSpPr>
          <p:nvPr/>
        </p:nvSpPr>
        <p:spPr>
          <a:xfrm>
            <a:off x="1293946" y="1569439"/>
            <a:ext cx="7011854" cy="1804351"/>
          </a:xfrm>
          <a:prstGeom prst="rect">
            <a:avLst/>
          </a:prstGeom>
          <a:ln w="57150"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500" b="1" dirty="0">
                <a:solidFill>
                  <a:schemeClr val="tx1"/>
                </a:solidFill>
              </a:rPr>
              <a:t>Continual Learning</a:t>
            </a:r>
          </a:p>
          <a:p>
            <a:r>
              <a:rPr lang="en-US" sz="3500" dirty="0">
                <a:solidFill>
                  <a:schemeClr val="tx1"/>
                </a:solidFill>
              </a:rPr>
              <a:t>- Uses a replay buffer method</a:t>
            </a:r>
          </a:p>
          <a:p>
            <a:r>
              <a:rPr lang="en-US" sz="3500" dirty="0">
                <a:solidFill>
                  <a:schemeClr val="tx1"/>
                </a:solidFill>
              </a:rPr>
              <a:t>- prevent </a:t>
            </a:r>
            <a:r>
              <a:rPr lang="en-US" sz="3500" dirty="0" err="1">
                <a:solidFill>
                  <a:schemeClr val="tx1"/>
                </a:solidFill>
              </a:rPr>
              <a:t>caterstropic</a:t>
            </a:r>
            <a:r>
              <a:rPr lang="en-US" sz="3500" dirty="0">
                <a:solidFill>
                  <a:schemeClr val="tx1"/>
                </a:solidFill>
              </a:rPr>
              <a:t> forgetting(EWC)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8E2E20-F712-489B-B27A-6A855D833FA5}"/>
              </a:ext>
            </a:extLst>
          </p:cNvPr>
          <p:cNvCxnSpPr>
            <a:cxnSpLocks/>
          </p:cNvCxnSpPr>
          <p:nvPr/>
        </p:nvCxnSpPr>
        <p:spPr>
          <a:xfrm>
            <a:off x="13971114" y="2492629"/>
            <a:ext cx="0" cy="265087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284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23130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915103" y="23731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5372897" y="2276155"/>
                </a:moveTo>
                <a:lnTo>
                  <a:pt x="0" y="2276155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733800" y="-101224"/>
            <a:ext cx="1019615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ARCHITECHURE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5240" y="9749155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355A3-8F6A-4D35-BD72-02B274C3B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051" y="1125596"/>
            <a:ext cx="14089675" cy="86537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65988" y="7874377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5528" y="-79121"/>
            <a:ext cx="1112653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0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1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Work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10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2D3880"/>
              </a:solidFill>
              <a:effectLst/>
              <a:uLnTx/>
              <a:uFillTx/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732022-4C89-4445-87DC-A8023A18285E}"/>
              </a:ext>
            </a:extLst>
          </p:cNvPr>
          <p:cNvSpPr txBox="1"/>
          <p:nvPr/>
        </p:nvSpPr>
        <p:spPr>
          <a:xfrm>
            <a:off x="4520565" y="4439126"/>
            <a:ext cx="91782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YOLOv8 Implementation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Created baseline with 70 annotated images (120 augmented)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Achieved 0.712 precision and 0.741 recall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Current confidence scores: 0.25-0.5 range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Next: Expand to 500+ images for improved accuracy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2F0387D6-A07E-44CF-9FE6-6C9917E16BE6}"/>
              </a:ext>
            </a:extLst>
          </p:cNvPr>
          <p:cNvSpPr txBox="1"/>
          <p:nvPr/>
        </p:nvSpPr>
        <p:spPr>
          <a:xfrm>
            <a:off x="961677" y="1462662"/>
            <a:ext cx="17010721" cy="2484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1" marR="0" lvl="1" indent="-302261" algn="l" defTabSz="914400" rtl="0" eaLnBrk="1" fontAlgn="auto" latinLnBrk="0" hangingPunct="1">
              <a:lnSpc>
                <a:spcPts val="3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+mj-lt"/>
                <a:ea typeface="Cormorant Garamond Bold"/>
                <a:cs typeface="Cormorant Garamond Bold"/>
                <a:sym typeface="Cormorant Garamond Bold"/>
              </a:rPr>
              <a:t>Database Collection</a:t>
            </a:r>
          </a:p>
          <a:p>
            <a:pPr marL="1976121" marR="0" lvl="4" indent="-302261" algn="l" defTabSz="914400" rtl="0" eaLnBrk="1" fontAlgn="auto" latinLnBrk="0" hangingPunct="1">
              <a:lnSpc>
                <a:spcPts val="3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+mj-lt"/>
                <a:ea typeface="Cormorant Garamond Bold"/>
                <a:cs typeface="Cormorant Garamond Bold"/>
                <a:sym typeface="Cormorant Garamond Bold"/>
              </a:rPr>
              <a:t>Public Dataset</a:t>
            </a:r>
          </a:p>
          <a:p>
            <a:pPr marL="2890521" lvl="6" indent="-302261">
              <a:lnSpc>
                <a:spcPts val="3920"/>
              </a:lnSpc>
              <a:buFont typeface="Arial"/>
              <a:buChar char="•"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+mj-lt"/>
                <a:ea typeface="Cormorant Garamond Bold"/>
                <a:cs typeface="Cormorant Garamond Bold"/>
                <a:sym typeface="Cormorant Garamond Bold"/>
              </a:rPr>
              <a:t>Mendeley, Kaggle, plant village .</a:t>
            </a:r>
          </a:p>
          <a:p>
            <a:pPr marL="1976121" marR="0" lvl="4" indent="-302261" algn="l" defTabSz="914400" rtl="0" eaLnBrk="1" fontAlgn="auto" latinLnBrk="0" hangingPunct="1">
              <a:lnSpc>
                <a:spcPts val="3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+mj-lt"/>
                <a:ea typeface="Cormorant Garamond Bold"/>
                <a:cs typeface="Cormorant Garamond Bold"/>
                <a:sym typeface="Cormorant Garamond Bold"/>
              </a:rPr>
              <a:t>Domain-Specific Dataset:</a:t>
            </a:r>
          </a:p>
          <a:p>
            <a:pPr marL="2890521" lvl="6" indent="-302261">
              <a:lnSpc>
                <a:spcPts val="3920"/>
              </a:lnSpc>
              <a:buFont typeface="Arial"/>
              <a:buChar char="•"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+mj-lt"/>
                <a:ea typeface="Cormorant Garamond Bold"/>
                <a:cs typeface="Cormorant Garamond Bold"/>
                <a:sym typeface="Cormorant Garamond Bold"/>
              </a:rPr>
              <a:t>Turmeric images collected in controlled greenhouse various conditions</a:t>
            </a:r>
            <a:r>
              <a:rPr lang="en-US" sz="3200" dirty="0">
                <a:solidFill>
                  <a:srgbClr val="2D3880"/>
                </a:solidFill>
                <a:latin typeface="+mj-lt"/>
                <a:ea typeface="Cormorant Garamond Bold"/>
                <a:cs typeface="Cormorant Garamond Bold"/>
                <a:sym typeface="Cormorant Garamond Bold"/>
              </a:rPr>
              <a:t>.</a:t>
            </a:r>
            <a:endParaRPr kumimoji="0" lang="en-US" sz="3200" i="0" u="none" strike="noStrike" kern="1200" cap="none" spc="0" normalizeH="0" baseline="0" noProof="0" dirty="0">
              <a:ln>
                <a:noFill/>
              </a:ln>
              <a:solidFill>
                <a:srgbClr val="2D3880"/>
              </a:solidFill>
              <a:effectLst/>
              <a:uLnTx/>
              <a:uFillTx/>
              <a:latin typeface="+mj-lt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04582F-CFF4-42FC-85C4-735B3C57F84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565" y="5223769"/>
            <a:ext cx="6553200" cy="4746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BD526A-6FF6-4BA0-B0C5-94539AC99FB4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9198" y="5278342"/>
            <a:ext cx="6553200" cy="4734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65988" y="7874377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59613" y="-248105"/>
            <a:ext cx="11126530" cy="121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080"/>
              </a:lnSpc>
              <a:spcBef>
                <a:spcPct val="0"/>
              </a:spcBef>
              <a:defRPr/>
            </a:pPr>
            <a:r>
              <a:rPr kumimoji="0" lang="en-US" sz="6600" b="1" i="1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Work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8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11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2D3880"/>
              </a:solidFill>
              <a:effectLst/>
              <a:uLnTx/>
              <a:uFillTx/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732022-4C89-4445-87DC-A8023A18285E}"/>
              </a:ext>
            </a:extLst>
          </p:cNvPr>
          <p:cNvSpPr txBox="1"/>
          <p:nvPr/>
        </p:nvSpPr>
        <p:spPr>
          <a:xfrm>
            <a:off x="4520565" y="4439126"/>
            <a:ext cx="91782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YOLOv8 Implementation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Created baseline with 70 annotated images (120 augmented)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Achieved 0.712 precision and 0.741 recall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Current confidence scores: 0.25-0.5 range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AFF"/>
                </a:solidFill>
                <a:effectLst/>
                <a:uLnTx/>
                <a:uFillTx/>
                <a:latin typeface="DeepSeek-CJK-patch"/>
                <a:ea typeface="+mn-ea"/>
                <a:cs typeface="+mn-cs"/>
              </a:rPr>
              <a:t>Next: Expand to 500+ images for improved accuracy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B2DF265-0B48-4C5F-B60D-356A846F7368}"/>
              </a:ext>
            </a:extLst>
          </p:cNvPr>
          <p:cNvSpPr txBox="1"/>
          <p:nvPr/>
        </p:nvSpPr>
        <p:spPr>
          <a:xfrm>
            <a:off x="38100" y="1088468"/>
            <a:ext cx="13369557" cy="1477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marR="0" lvl="1" indent="-302261" algn="l" defTabSz="914400" rtl="0" eaLnBrk="1" fontAlgn="auto" latinLnBrk="0" hangingPunct="1">
              <a:lnSpc>
                <a:spcPts val="3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YOLOv8 leaf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seperation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models</a:t>
            </a:r>
            <a:br>
              <a:rPr lang="en-US" sz="2800" b="1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</a:br>
            <a:br>
              <a:rPr lang="en-US" sz="2800" b="1" dirty="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</a:b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D3880"/>
              </a:solidFill>
              <a:effectLst/>
              <a:uLnTx/>
              <a:uFillTx/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33D180-4331-440B-8116-E1DE3980A7B8}"/>
              </a:ext>
            </a:extLst>
          </p:cNvPr>
          <p:cNvPicPr/>
          <p:nvPr/>
        </p:nvPicPr>
        <p:blipFill rotWithShape="1">
          <a:blip r:embed="rId4"/>
          <a:srcRect t="47094"/>
          <a:stretch/>
        </p:blipFill>
        <p:spPr>
          <a:xfrm>
            <a:off x="5638800" y="1602938"/>
            <a:ext cx="11320504" cy="3617244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4EB97529-CB8B-4FC9-A15A-C6E3660273B4}"/>
              </a:ext>
            </a:extLst>
          </p:cNvPr>
          <p:cNvSpPr txBox="1"/>
          <p:nvPr/>
        </p:nvSpPr>
        <p:spPr>
          <a:xfrm>
            <a:off x="178442" y="5662807"/>
            <a:ext cx="13369557" cy="55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marR="0" lvl="1" indent="-302261" algn="l" defTabSz="914400" rtl="0" eaLnBrk="1" fontAlgn="auto" latinLnBrk="0" hangingPunct="1">
              <a:lnSpc>
                <a:spcPts val="3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leaf segmentation models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D3880"/>
              </a:solidFill>
              <a:effectLst/>
              <a:uLnTx/>
              <a:uFillTx/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517333-744E-4199-8D23-3AC856189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439" y="6527741"/>
            <a:ext cx="8498561" cy="37737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1CCFED-3946-40D3-B5B8-93BEC243E8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2149" y="6443863"/>
            <a:ext cx="8992379" cy="36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68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65988" y="7962900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905000" y="-64123"/>
            <a:ext cx="11126530" cy="123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080"/>
              </a:lnSpc>
              <a:spcBef>
                <a:spcPct val="0"/>
              </a:spcBef>
            </a:pPr>
            <a:r>
              <a:rPr kumimoji="0" lang="en-US" sz="7200" b="1" i="1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Work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12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B1D136C-1862-4221-A36C-915F00827978}"/>
              </a:ext>
            </a:extLst>
          </p:cNvPr>
          <p:cNvSpPr txBox="1"/>
          <p:nvPr/>
        </p:nvSpPr>
        <p:spPr>
          <a:xfrm>
            <a:off x="658378" y="1647590"/>
            <a:ext cx="15594958" cy="2018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4400" b="1" dirty="0">
                <a:solidFill>
                  <a:srgbClr val="2D3880"/>
                </a:solidFill>
                <a:ea typeface="Cormorant Garamond Bold"/>
                <a:cs typeface="Cormorant Garamond Bold"/>
                <a:sym typeface="Cormorant Garamond Bold"/>
              </a:rPr>
              <a:t>Light weight GAN Model</a:t>
            </a:r>
          </a:p>
          <a:p>
            <a:pPr marL="1518921" lvl="3" indent="-302261">
              <a:lnSpc>
                <a:spcPts val="3920"/>
              </a:lnSpc>
              <a:buFont typeface="Arial"/>
              <a:buChar char="•"/>
            </a:pPr>
            <a:r>
              <a:rPr lang="en-US" sz="4000" dirty="0">
                <a:ea typeface="Cormorant Garamond Bold"/>
                <a:cs typeface="Cormorant Garamond Bold"/>
                <a:sym typeface="Cormorant Garamond Bold"/>
              </a:rPr>
              <a:t>Generator: Lightweight TinyUNet with depth wise separable convolution</a:t>
            </a:r>
          </a:p>
          <a:p>
            <a:pPr marL="1518921" lvl="3" indent="-302261">
              <a:lnSpc>
                <a:spcPts val="3920"/>
              </a:lnSpc>
              <a:buFont typeface="Arial"/>
              <a:buChar char="•"/>
            </a:pPr>
            <a:r>
              <a:rPr lang="en-US" sz="4000" dirty="0">
                <a:ea typeface="Cormorant Garamond Bold"/>
                <a:cs typeface="Cormorant Garamond Bold"/>
                <a:sym typeface="Cormorant Garamond Bold"/>
              </a:rPr>
              <a:t> Discriminator: 70×70 PatchGAN</a:t>
            </a:r>
            <a:endParaRPr lang="en-US" sz="4000" b="1" dirty="0">
              <a:solidFill>
                <a:srgbClr val="2D3880"/>
              </a:solidFill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78FE50-6F2C-440D-ACEE-7857C74F1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87" y="4951709"/>
            <a:ext cx="8455885" cy="4590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812F4E-FCA9-4DD0-B985-2CDED4B09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2920" y="5052374"/>
            <a:ext cx="8108383" cy="45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13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42BCCD15-EEE7-411E-8851-3719CF7BF36B}"/>
              </a:ext>
            </a:extLst>
          </p:cNvPr>
          <p:cNvSpPr txBox="1"/>
          <p:nvPr/>
        </p:nvSpPr>
        <p:spPr>
          <a:xfrm>
            <a:off x="1905000" y="-64123"/>
            <a:ext cx="11126530" cy="123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080"/>
              </a:lnSpc>
              <a:spcBef>
                <a:spcPct val="0"/>
              </a:spcBef>
            </a:pPr>
            <a:r>
              <a:rPr kumimoji="0" lang="en-US" sz="7200" b="1" i="1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Work Summary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BAE5EE-BE69-47DF-B65C-CF556A5EC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7581900"/>
            <a:ext cx="7334124" cy="3109229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6AF27E2F-D823-486F-9C78-0C31EBC147D5}"/>
              </a:ext>
            </a:extLst>
          </p:cNvPr>
          <p:cNvSpPr txBox="1"/>
          <p:nvPr/>
        </p:nvSpPr>
        <p:spPr>
          <a:xfrm>
            <a:off x="381000" y="9563100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13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55B1FF7-A15F-4ADF-A1FE-6BC81F5C7887}"/>
              </a:ext>
            </a:extLst>
          </p:cNvPr>
          <p:cNvSpPr txBox="1"/>
          <p:nvPr/>
        </p:nvSpPr>
        <p:spPr>
          <a:xfrm>
            <a:off x="201804" y="1542203"/>
            <a:ext cx="15582900" cy="2021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4800" b="1" dirty="0">
                <a:solidFill>
                  <a:srgbClr val="2D3880"/>
                </a:solidFill>
                <a:latin typeface="+mj-lt"/>
                <a:ea typeface="Cormorant Garamond Bold"/>
                <a:cs typeface="Cormorant Garamond Bold"/>
                <a:sym typeface="Cormorant Garamond Bold"/>
              </a:rPr>
              <a:t>Mobile net V3-Small</a:t>
            </a:r>
          </a:p>
          <a:p>
            <a:pPr marL="1518921" lvl="3" indent="-302261">
              <a:lnSpc>
                <a:spcPts val="3920"/>
              </a:lnSpc>
              <a:buFont typeface="Arial"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Cormorant Garamond Bold Italics" panose="020B0604020202020204" charset="0"/>
              </a:rPr>
              <a:t>Classify turmeric 5 classes(Healthy,blotch,leaf_spot,dry_leaf,alphid disease)</a:t>
            </a:r>
          </a:p>
          <a:p>
            <a:pPr marL="1518921" lvl="3" indent="-302261">
              <a:lnSpc>
                <a:spcPts val="3920"/>
              </a:lnSpc>
              <a:buFont typeface="Arial"/>
              <a:buChar char="•"/>
            </a:pPr>
            <a:endParaRPr lang="en-US" sz="4000" b="1" dirty="0">
              <a:solidFill>
                <a:srgbClr val="2D3880"/>
              </a:solidFill>
              <a:latin typeface="Cormorant Garamond Bold"/>
              <a:ea typeface="Cormorant Garamond Bold"/>
              <a:cs typeface="Cormorant Garamond Bold"/>
              <a:sym typeface="Cormorant Garamond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9360CD-49D0-440C-B989-A91476A383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58" r="39088" b="19054"/>
          <a:stretch/>
        </p:blipFill>
        <p:spPr>
          <a:xfrm>
            <a:off x="354100" y="3342207"/>
            <a:ext cx="9696685" cy="9047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69638E-84B6-4ADA-882D-69205E8D9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883" y="3090790"/>
            <a:ext cx="7641017" cy="66269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D4CE84-50EE-471B-B997-A30784699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057" y="4535786"/>
            <a:ext cx="8278573" cy="556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680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42BCCD15-EEE7-411E-8851-3719CF7BF36B}"/>
              </a:ext>
            </a:extLst>
          </p:cNvPr>
          <p:cNvSpPr txBox="1"/>
          <p:nvPr/>
        </p:nvSpPr>
        <p:spPr>
          <a:xfrm>
            <a:off x="1905000" y="-64123"/>
            <a:ext cx="11126530" cy="123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080"/>
              </a:lnSpc>
              <a:spcBef>
                <a:spcPct val="0"/>
              </a:spcBef>
            </a:pPr>
            <a:r>
              <a:rPr kumimoji="0" lang="en-US" sz="7200" b="1" i="1" u="none" strike="noStrike" kern="1200" cap="none" spc="0" normalizeH="0" baseline="0" noProof="0" dirty="0">
                <a:ln>
                  <a:noFill/>
                </a:ln>
                <a:solidFill>
                  <a:srgbClr val="2D3880"/>
                </a:solidFill>
                <a:effectLst/>
                <a:uLnTx/>
                <a:uFillTx/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Upcoming plan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BAE5EE-BE69-47DF-B65C-CF556A5EC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7581900"/>
            <a:ext cx="7334124" cy="3109229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6AF27E2F-D823-486F-9C78-0C31EBC147D5}"/>
              </a:ext>
            </a:extLst>
          </p:cNvPr>
          <p:cNvSpPr txBox="1"/>
          <p:nvPr/>
        </p:nvSpPr>
        <p:spPr>
          <a:xfrm>
            <a:off x="381000" y="9563100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B75FC-E0E7-4E38-B5AF-F82F953AF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64" y="1429304"/>
            <a:ext cx="16600296" cy="841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02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2875"/>
            <a:ext cx="13066628" cy="10287000"/>
          </a:xfrm>
          <a:custGeom>
            <a:avLst/>
            <a:gdLst/>
            <a:ahLst/>
            <a:cxnLst/>
            <a:rect l="l" t="t" r="r" b="b"/>
            <a:pathLst>
              <a:path w="13066628" h="10287000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3747860"/>
            <a:ext cx="8115300" cy="250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49"/>
              </a:lnSpc>
            </a:pPr>
            <a:r>
              <a:rPr lang="en-US" sz="14607" b="1" i="1" dirty="0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8442" y="9743724"/>
            <a:ext cx="1036809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6332</TotalTime>
  <Words>608</Words>
  <Application>Microsoft Office PowerPoint</Application>
  <PresentationFormat>Custom</PresentationFormat>
  <Paragraphs>126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Cormorant Garamond Bold</vt:lpstr>
      <vt:lpstr>Garet</vt:lpstr>
      <vt:lpstr>Glacial Indifference Bold</vt:lpstr>
      <vt:lpstr>Wingdings</vt:lpstr>
      <vt:lpstr>Cormorant Garamond Bold Italics</vt:lpstr>
      <vt:lpstr>Glacial Indifference</vt:lpstr>
      <vt:lpstr>Calibri</vt:lpstr>
      <vt:lpstr>DeepSeek-CJK-patch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GAN-based Occlusion Models for Leaf Image Inpainting in Precision Agriculture</dc:title>
  <dc:creator>Royce theeban</dc:creator>
  <cp:lastModifiedBy>Royce theeban</cp:lastModifiedBy>
  <cp:revision>47</cp:revision>
  <dcterms:created xsi:type="dcterms:W3CDTF">2006-08-16T00:00:00Z</dcterms:created>
  <dcterms:modified xsi:type="dcterms:W3CDTF">2025-09-07T08:08:08Z</dcterms:modified>
  <dc:identifier>DAGoGjv4ew4</dc:identifier>
</cp:coreProperties>
</file>