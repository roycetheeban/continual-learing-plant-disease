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8" r:id="rId5"/>
    <p:sldId id="275" r:id="rId6"/>
    <p:sldId id="274" r:id="rId7"/>
    <p:sldId id="277" r:id="rId8"/>
    <p:sldId id="279" r:id="rId9"/>
    <p:sldId id="280" r:id="rId10"/>
    <p:sldId id="271" r:id="rId11"/>
  </p:sldIdLst>
  <p:sldSz cx="18288000" cy="10287000"/>
  <p:notesSz cx="6858000" cy="9144000"/>
  <p:embeddedFontLst>
    <p:embeddedFont>
      <p:font typeface="Cormorant Garamond Bold" panose="020B0604020202020204" charset="0"/>
      <p:regular r:id="rId13"/>
    </p:embeddedFont>
    <p:embeddedFont>
      <p:font typeface="Cormorant Garamond Bold Italics" panose="020B0604020202020204" charset="0"/>
      <p:regular r:id="rId14"/>
    </p:embeddedFont>
    <p:embeddedFont>
      <p:font typeface="Glacial Indifference" panose="020B0604020202020204" charset="0"/>
      <p:regular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1016" autoAdjust="0"/>
  </p:normalViewPr>
  <p:slideViewPr>
    <p:cSldViewPr>
      <p:cViewPr varScale="1">
        <p:scale>
          <a:sx n="58" d="100"/>
          <a:sy n="58" d="100"/>
        </p:scale>
        <p:origin x="74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3CFCB-C605-4C1C-B12F-34EBD689407D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14C0C-BC0C-4E80-9DDE-519804A62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0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14C0C-BC0C-4E80-9DDE-519804A62A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48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591" y="1732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3962621" y="-389349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672250" y="2150568"/>
            <a:ext cx="14943500" cy="2801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88"/>
              </a:lnSpc>
            </a:pPr>
            <a:r>
              <a:rPr lang="en-US" sz="7188" b="1" i="1" dirty="0">
                <a:solidFill>
                  <a:srgbClr val="2D38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rmorant Garamond Bold Italics"/>
              </a:rPr>
              <a:t>AIOT DRIVEN GREEN HOUSE MONITORING AND PREDICTIVE ANALYSIS</a:t>
            </a:r>
          </a:p>
        </p:txBody>
      </p:sp>
      <p:sp>
        <p:nvSpPr>
          <p:cNvPr id="8" name="AutoShape 8"/>
          <p:cNvSpPr/>
          <p:nvPr/>
        </p:nvSpPr>
        <p:spPr>
          <a:xfrm flipH="1">
            <a:off x="1143000" y="870392"/>
            <a:ext cx="0" cy="8247531"/>
          </a:xfrm>
          <a:prstGeom prst="line">
            <a:avLst/>
          </a:prstGeom>
          <a:ln w="57150" cap="flat">
            <a:solidFill>
              <a:srgbClr val="2D388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0C6EECBE-2FEC-4082-B0A9-92694B101FFA}"/>
              </a:ext>
            </a:extLst>
          </p:cNvPr>
          <p:cNvSpPr txBox="1"/>
          <p:nvPr/>
        </p:nvSpPr>
        <p:spPr>
          <a:xfrm>
            <a:off x="4062982" y="5427849"/>
            <a:ext cx="10162036" cy="333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Supervisor: Dr. T.MUKUNTHAN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  <a:endParaRPr lang="en-US" sz="3600" b="1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algn="ctr">
              <a:lnSpc>
                <a:spcPts val="4480"/>
              </a:lnSpc>
            </a:pPr>
            <a:r>
              <a:rPr lang="pt-BR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Reg No:</a:t>
            </a:r>
          </a:p>
          <a:p>
            <a:pPr algn="ctr">
              <a:lnSpc>
                <a:spcPts val="4480"/>
              </a:lnSpc>
            </a:pPr>
            <a:r>
              <a:rPr lang="pt-BR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2021/E/015</a:t>
            </a:r>
          </a:p>
          <a:p>
            <a:pPr algn="ctr">
              <a:lnSpc>
                <a:spcPts val="4480"/>
              </a:lnSpc>
            </a:pPr>
            <a:r>
              <a:rPr lang="pt-BR" sz="36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2021/E/123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are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979221" y="7498602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87794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72551" y="442297"/>
            <a:ext cx="12715243" cy="1263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dirty="0">
                <a:solidFill>
                  <a:srgbClr val="2D38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rmorant Garamond Bold Italics"/>
              </a:rPr>
              <a:t>Contents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786379" y="3029301"/>
            <a:ext cx="842787" cy="8427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86379" y="4157838"/>
            <a:ext cx="842787" cy="8427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48279" y="5376259"/>
            <a:ext cx="842787" cy="8427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73679" y="6765914"/>
            <a:ext cx="842787" cy="84278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05638" y="3325648"/>
            <a:ext cx="842787" cy="84278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05638" y="4500220"/>
            <a:ext cx="842787" cy="84278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05638" y="5720476"/>
            <a:ext cx="842787" cy="8427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07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837582" y="3164945"/>
            <a:ext cx="495508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37582" y="4293482"/>
            <a:ext cx="495508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Architecture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99482" y="5507315"/>
            <a:ext cx="5579219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Summary(7 </a:t>
            </a:r>
            <a:r>
              <a:rPr lang="en-US" sz="4000" dirty="0" err="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</a:t>
            </a: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semester)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25303" y="6935213"/>
            <a:ext cx="4955083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Summary(8 </a:t>
            </a:r>
            <a:r>
              <a:rPr lang="en-US" sz="4000" dirty="0" err="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</a:t>
            </a: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semester)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61778" y="3458850"/>
            <a:ext cx="6431538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indent="0" algn="l">
              <a:buNone/>
            </a:pPr>
            <a:r>
              <a:rPr lang="en-US" sz="4000" i="0" dirty="0"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Business Model Canvas</a:t>
            </a:r>
          </a:p>
          <a:p>
            <a:pPr algn="l">
              <a:lnSpc>
                <a:spcPts val="4480"/>
              </a:lnSpc>
            </a:pPr>
            <a:endParaRPr lang="en-US" sz="40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02</a:t>
            </a:r>
          </a:p>
        </p:txBody>
      </p:sp>
      <p:sp>
        <p:nvSpPr>
          <p:cNvPr id="38" name="TextBox 36">
            <a:extLst>
              <a:ext uri="{FF2B5EF4-FFF2-40B4-BE49-F238E27FC236}">
                <a16:creationId xmlns:a16="http://schemas.microsoft.com/office/drawing/2014/main" id="{AACBF9FC-7A4F-4039-957B-784724A700E4}"/>
              </a:ext>
            </a:extLst>
          </p:cNvPr>
          <p:cNvSpPr txBox="1"/>
          <p:nvPr/>
        </p:nvSpPr>
        <p:spPr>
          <a:xfrm>
            <a:off x="10637262" y="5874169"/>
            <a:ext cx="4956216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Summary</a:t>
            </a:r>
          </a:p>
        </p:txBody>
      </p:sp>
      <p:sp>
        <p:nvSpPr>
          <p:cNvPr id="27" name="TextBox 36">
            <a:extLst>
              <a:ext uri="{FF2B5EF4-FFF2-40B4-BE49-F238E27FC236}">
                <a16:creationId xmlns:a16="http://schemas.microsoft.com/office/drawing/2014/main" id="{DDD15801-93E9-0A0E-2321-180B27AAFEF9}"/>
              </a:ext>
            </a:extLst>
          </p:cNvPr>
          <p:cNvSpPr txBox="1"/>
          <p:nvPr/>
        </p:nvSpPr>
        <p:spPr>
          <a:xfrm>
            <a:off x="10637262" y="4683284"/>
            <a:ext cx="4956216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Upcoming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2858706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62576" y="1822718"/>
            <a:ext cx="1162247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Plant diseases cause billions in global agricultural losses, threatening food security and turmeric yields.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Our AI-powered pipeline on Jetson Orin Nano automates real-time disease detection for turmeric.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Integrating image and sensor data enables precise, environment-aware monitoring on edge devices.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Continual learning with automatic image generalization ensures adaptability to new disease patterns</a:t>
            </a:r>
            <a:endParaRPr lang="en-US" sz="4000" dirty="0">
              <a:solidFill>
                <a:schemeClr val="tx2">
                  <a:lumMod val="50000"/>
                </a:schemeClr>
              </a:solidFill>
              <a:latin typeface="Glacial Indifference" panose="020B0604020202020204" charset="0"/>
              <a:ea typeface="Glacial Indifference"/>
              <a:cs typeface="Glacial Indifference" panose="020B0604020202020204" charset="0"/>
              <a:sym typeface="Glacial Indifferen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70196" y="0"/>
            <a:ext cx="8115300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66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  <a:endParaRPr lang="en-US" sz="7200" b="1" i="1" dirty="0">
              <a:solidFill>
                <a:srgbClr val="2D3880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03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49288EB-CFBF-44D4-8D6C-1B8AE90E6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Freeform 35">
            <a:extLst>
              <a:ext uri="{FF2B5EF4-FFF2-40B4-BE49-F238E27FC236}">
                <a16:creationId xmlns:a16="http://schemas.microsoft.com/office/drawing/2014/main" id="{31BE0B83-C95F-421A-A988-5ACAD0C3EF4C}"/>
              </a:ext>
            </a:extLst>
          </p:cNvPr>
          <p:cNvSpPr/>
          <p:nvPr/>
        </p:nvSpPr>
        <p:spPr>
          <a:xfrm>
            <a:off x="11985053" y="4948348"/>
            <a:ext cx="6753203" cy="5333221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9DC91EEE-BDF4-40D4-9BE3-788D6982EED3}"/>
              </a:ext>
            </a:extLst>
          </p:cNvPr>
          <p:cNvSpPr/>
          <p:nvPr/>
        </p:nvSpPr>
        <p:spPr>
          <a:xfrm>
            <a:off x="11985053" y="-1492576"/>
            <a:ext cx="9334600" cy="6440923"/>
          </a:xfrm>
          <a:custGeom>
            <a:avLst/>
            <a:gdLst/>
            <a:ahLst/>
            <a:cxnLst/>
            <a:rect l="l" t="t" r="r" b="b"/>
            <a:pathLst>
              <a:path w="12352120" h="822960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2313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2915103" y="23731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733800" y="-101224"/>
            <a:ext cx="1019615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ARCHITECHURE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5240" y="9749155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355A3-8F6A-4D35-BD72-02B274C3B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051" y="1125596"/>
            <a:ext cx="14089675" cy="86537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5988" y="7823112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Glacial Indifference"/>
                <a:ea typeface="Glacial Indifference"/>
                <a:cs typeface="Glacial Indifference"/>
                <a:sym typeface="Glacial Indifference"/>
              </a:rPr>
              <a:t>05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732022-4C89-4445-87DC-A8023A18285E}"/>
              </a:ext>
            </a:extLst>
          </p:cNvPr>
          <p:cNvSpPr txBox="1"/>
          <p:nvPr/>
        </p:nvSpPr>
        <p:spPr>
          <a:xfrm>
            <a:off x="4520565" y="4439126"/>
            <a:ext cx="91782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YOLOv8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Created baseline with 70 annotated images (120 augmented)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Achieved 0.712 precision and 0.741 recall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Current confidence scores: 0.25-0.5 range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Next: Expand to 500+ images for improved accuracy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B2DF265-0B48-4C5F-B60D-356A846F7368}"/>
              </a:ext>
            </a:extLst>
          </p:cNvPr>
          <p:cNvSpPr txBox="1"/>
          <p:nvPr/>
        </p:nvSpPr>
        <p:spPr>
          <a:xfrm>
            <a:off x="-152400" y="205336"/>
            <a:ext cx="13369557" cy="1477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marR="0" lvl="1" indent="-302261" algn="l" defTabSz="914400" rtl="0" eaLnBrk="1" fontAlgn="auto" latinLnBrk="0" hangingPunct="1"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YOLOv8 leaf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seperation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models</a:t>
            </a:r>
            <a:br>
              <a:rPr lang="en-US" sz="2800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</a:br>
            <a:br>
              <a:rPr lang="en-US" sz="2800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</a:b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D3880"/>
              </a:solidFill>
              <a:effectLst/>
              <a:uLnTx/>
              <a:uFillTx/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33D180-4331-440B-8116-E1DE3980A7B8}"/>
              </a:ext>
            </a:extLst>
          </p:cNvPr>
          <p:cNvPicPr/>
          <p:nvPr/>
        </p:nvPicPr>
        <p:blipFill rotWithShape="1">
          <a:blip r:embed="rId3"/>
          <a:srcRect t="47094"/>
          <a:stretch/>
        </p:blipFill>
        <p:spPr>
          <a:xfrm>
            <a:off x="431457" y="633223"/>
            <a:ext cx="8879561" cy="3612330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4EB97529-CB8B-4FC9-A15A-C6E3660273B4}"/>
              </a:ext>
            </a:extLst>
          </p:cNvPr>
          <p:cNvSpPr txBox="1"/>
          <p:nvPr/>
        </p:nvSpPr>
        <p:spPr>
          <a:xfrm>
            <a:off x="9525000" y="267564"/>
            <a:ext cx="12912357" cy="520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1" marR="0" lvl="1" indent="-302261" algn="l" defTabSz="914400" rtl="0" eaLnBrk="1" fontAlgn="auto" latinLnBrk="0" hangingPunct="1"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leaf segmentation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517333-744E-4199-8D23-3AC856189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962" y="815179"/>
            <a:ext cx="8146104" cy="361724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8C9060DB-AFB3-20FB-AB15-3D48CFB7F77A}"/>
              </a:ext>
            </a:extLst>
          </p:cNvPr>
          <p:cNvSpPr txBox="1"/>
          <p:nvPr/>
        </p:nvSpPr>
        <p:spPr>
          <a:xfrm>
            <a:off x="-152400" y="5339426"/>
            <a:ext cx="13369557" cy="52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4000" b="1" dirty="0">
                <a:solidFill>
                  <a:srgbClr val="2D3880"/>
                </a:solidFill>
                <a:latin typeface="Cormorant Garamond Bold" panose="020B0604020202020204" charset="0"/>
                <a:ea typeface="Cormorant Garamond Bold"/>
                <a:cs typeface="Cormorant Garamond Bold"/>
                <a:sym typeface="Cormorant Garamond Bold"/>
              </a:rPr>
              <a:t>Light weight GAN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162217-0543-10A5-415C-2341F00D1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58" y="5871100"/>
            <a:ext cx="6880884" cy="37356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200891-0815-684D-1605-EBF3009C0E8A}"/>
              </a:ext>
            </a:extLst>
          </p:cNvPr>
          <p:cNvSpPr txBox="1"/>
          <p:nvPr/>
        </p:nvSpPr>
        <p:spPr>
          <a:xfrm>
            <a:off x="9540240" y="5453050"/>
            <a:ext cx="12390120" cy="1113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4000" b="1" dirty="0">
                <a:solidFill>
                  <a:srgbClr val="2D3880"/>
                </a:solidFill>
                <a:latin typeface="Cormorant Garamond Bold" panose="020B0604020202020204" charset="0"/>
                <a:ea typeface="Cormorant Garamond Bold"/>
                <a:cs typeface="Cormorant Garamond Bold"/>
                <a:sym typeface="Cormorant Garamond Bold"/>
              </a:rPr>
              <a:t>Mobile net V3-Small</a:t>
            </a:r>
          </a:p>
          <a:p>
            <a:pPr marL="1518921" lvl="3" indent="-302261">
              <a:lnSpc>
                <a:spcPts val="3920"/>
              </a:lnSpc>
              <a:buFont typeface="Arial"/>
              <a:buChar char="•"/>
            </a:pPr>
            <a:endParaRPr lang="en-US" sz="4000" b="1" dirty="0">
              <a:solidFill>
                <a:srgbClr val="2D3880"/>
              </a:solidFill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987B6A-952B-BB87-F0C9-D7BE96FD45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26" y="4568105"/>
            <a:ext cx="7678222" cy="609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4A5BD3-A021-5E79-FB2A-E5C843F9F5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895" y="4452532"/>
            <a:ext cx="4877481" cy="8002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3DDDF81-2D09-E9A3-78CD-91279849C2EF}"/>
              </a:ext>
            </a:extLst>
          </p:cNvPr>
          <p:cNvSpPr txBox="1"/>
          <p:nvPr/>
        </p:nvSpPr>
        <p:spPr>
          <a:xfrm>
            <a:off x="617758" y="9913543"/>
            <a:ext cx="11760304" cy="477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2665" lvl="3" indent="-201517">
              <a:lnSpc>
                <a:spcPts val="2613"/>
              </a:lnSpc>
              <a:buFont typeface="Arial"/>
              <a:buChar char="•"/>
            </a:pPr>
            <a:r>
              <a:rPr lang="en-US" sz="4000" dirty="0">
                <a:ea typeface="Cormorant Garamond Bold"/>
                <a:cs typeface="Cormorant Garamond Bold"/>
                <a:sym typeface="Cormorant Garamond Bold"/>
              </a:rPr>
              <a:t>PSNR: 22.28 dB, SSIM: 0.8168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10596EA-D6F3-13A4-4B3E-B0F48528AA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818" y="6010439"/>
            <a:ext cx="6676678" cy="344387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F5919CA-49FE-25BF-71A2-7DFF320C841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2161" r="31542" b="16735"/>
          <a:stretch>
            <a:fillRect/>
          </a:stretch>
        </p:blipFill>
        <p:spPr>
          <a:xfrm>
            <a:off x="10245078" y="9633927"/>
            <a:ext cx="5944157" cy="53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6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5988" y="796290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381000" y="-164704"/>
            <a:ext cx="10759440" cy="1233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080"/>
              </a:lnSpc>
              <a:spcBef>
                <a:spcPct val="0"/>
              </a:spcBef>
            </a:pPr>
            <a:r>
              <a:rPr kumimoji="0" lang="en-US" sz="6600" b="1" i="1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Work Summary semester 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D241FB-AC45-769A-234F-AC2FFC3B0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76565"/>
            <a:ext cx="16459200" cy="916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1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42BCCD15-EEE7-411E-8851-3719CF7BF36B}"/>
              </a:ext>
            </a:extLst>
          </p:cNvPr>
          <p:cNvSpPr txBox="1"/>
          <p:nvPr/>
        </p:nvSpPr>
        <p:spPr>
          <a:xfrm>
            <a:off x="718229" y="-96121"/>
            <a:ext cx="11126530" cy="123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080"/>
              </a:lnSpc>
              <a:spcBef>
                <a:spcPct val="0"/>
              </a:spcBef>
            </a:pPr>
            <a:r>
              <a:rPr kumimoji="0" lang="en-US" sz="6600" b="1" i="1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Work Summary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BAE5EE-BE69-47DF-B65C-CF556A5E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7581900"/>
            <a:ext cx="7334124" cy="3109229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6AF27E2F-D823-486F-9C78-0C31EBC147D5}"/>
              </a:ext>
            </a:extLst>
          </p:cNvPr>
          <p:cNvSpPr txBox="1"/>
          <p:nvPr/>
        </p:nvSpPr>
        <p:spPr>
          <a:xfrm>
            <a:off x="381000" y="9563100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C0A7F1-A4AE-31A9-5C7C-905F3B8B9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790700"/>
            <a:ext cx="10368096" cy="3563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EE4381-BBCA-6CD9-376E-48661A665E33}"/>
              </a:ext>
            </a:extLst>
          </p:cNvPr>
          <p:cNvSpPr txBox="1"/>
          <p:nvPr/>
        </p:nvSpPr>
        <p:spPr>
          <a:xfrm>
            <a:off x="2209800" y="1195814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Category A Rankings — Same-Class CL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5D691A-BFD2-417F-9766-31E8C74CCA70}"/>
              </a:ext>
            </a:extLst>
          </p:cNvPr>
          <p:cNvSpPr txBox="1"/>
          <p:nvPr/>
        </p:nvSpPr>
        <p:spPr>
          <a:xfrm>
            <a:off x="2209800" y="5425961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Category B Rankings — New-Class CL</a:t>
            </a:r>
            <a:endParaRPr lang="en-US"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295B87-805A-C680-B877-CEF95DCA9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6148583"/>
            <a:ext cx="10205468" cy="356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80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AE5EE-BE69-47DF-B65C-CF556A5EC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00" y="7658100"/>
            <a:ext cx="7334124" cy="3109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F5BF9E-7876-9E93-97B9-075D00215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36494"/>
            <a:ext cx="16078200" cy="1001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02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A7F0-A70B-9769-30E7-1B24C33C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1922C8-FF42-ACFA-4186-8F96510CC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7581900"/>
            <a:ext cx="7334124" cy="3109229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59240C6E-DCF5-A24C-C2C4-FA2B08F6FC59}"/>
              </a:ext>
            </a:extLst>
          </p:cNvPr>
          <p:cNvSpPr txBox="1"/>
          <p:nvPr/>
        </p:nvSpPr>
        <p:spPr>
          <a:xfrm>
            <a:off x="381000" y="9563100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874397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2875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0" y="3747860"/>
            <a:ext cx="8115300" cy="250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49"/>
              </a:lnSpc>
            </a:pPr>
            <a:r>
              <a:rPr lang="en-US" sz="14607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1474B4-E7FC-41FF-8CC7-2A381ED22D04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6452</TotalTime>
  <Words>206</Words>
  <Application>Microsoft Office PowerPoint</Application>
  <PresentationFormat>Custom</PresentationFormat>
  <Paragraphs>51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Cormorant Garamond Bold Italics</vt:lpstr>
      <vt:lpstr>Segoe UI</vt:lpstr>
      <vt:lpstr>Cormorant Garamond Bold</vt:lpstr>
      <vt:lpstr>Calibri</vt:lpstr>
      <vt:lpstr>Wingdings</vt:lpstr>
      <vt:lpstr>DeepSeek-CJK-patch</vt:lpstr>
      <vt:lpstr>Arial</vt:lpstr>
      <vt:lpstr>Glacial Indifference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GAN-based Occlusion Models for Leaf Image Inpainting in Precision Agriculture</dc:title>
  <dc:creator>Royce theeban</dc:creator>
  <cp:lastModifiedBy>Royce theeban</cp:lastModifiedBy>
  <cp:revision>50</cp:revision>
  <dcterms:created xsi:type="dcterms:W3CDTF">2006-08-16T00:00:00Z</dcterms:created>
  <dcterms:modified xsi:type="dcterms:W3CDTF">2026-08-06T07:53:02Z</dcterms:modified>
  <dc:identifier>DAGoGjv4ew4</dc:identifier>
</cp:coreProperties>
</file>